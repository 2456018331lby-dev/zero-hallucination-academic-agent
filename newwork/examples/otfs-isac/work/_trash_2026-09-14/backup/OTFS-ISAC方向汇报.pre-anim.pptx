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0, display: 'flex', flexDirection: 'column', position: 'relative', fontFamily: &quot;'Source Han Sans SC','Microsoft YaHei',sans-serif&quot; }}&gt;&#10;    &lt;Box style={{ height: 8, width: '100%', background: '#1E4FA8' }} /&gt;&#10;    &lt;Box style={{ height: 588, display: 'flex', flexDirection: 'column', justifyContent: 'center', padding: '0 96px' }}&gt;&#10;        &lt;Text style={{ fontSize: 16, letterSpacing: 4, color: '#3D7BD9', fontWeight: 'bold' }}&gt;LITERATURE REVIEW · 组会文献汇报&lt;/Text&gt;&#10;        &lt;Text style={{ fontSize: 58, fontWeight: 'bold', color: '#0E3F8C', lineHeight: 1.24, marginTop: 20 }}&gt;&#10;            高机动低空场景下的&lt;br /&gt;时延-多普勒域（OTFS）通感一体化&#10;        &lt;/Text&gt;&#10;        &lt;Text style={{ fontSize: 23, color: '#4A5568', marginTop: 20 }}&gt;波形/调制层 · DD 域感知参数估计 · 感知-通信折中刻画&lt;/Text&gt;&#10;        &lt;Box style={{ height: 3, width: 120, background: '#1E4FA8', marginTop: 26 }} /&gt;&#10;        &lt;Text style={{ fontSize: 20, color: '#4A5568', marginTop: 26, lineHeight: 1.9 }}&gt;&#10;            文献基础：本地精读 11 篇（IEEE / Springer / 机构库 OA 刊，池 39 篇）&lt;br /&gt;&#10;            汇报人：＿＿＿＿　　指导老师：＿＿＿＿　　日期：2026-09-14&#10;        &lt;/Text&gt;&#10;    &lt;/Box&gt;&#10;    &lt;Box style={{ height: 124, background: '#F0F5FC', display: 'flex', flexDirection: 'column', justifyContent: 'center', padding: '0 96px', gap: 8 }}&gt;&#10;        &lt;Text style={{ fontSize: 16, color: '#4A5568' }}&gt;证据来源：examples/otfs-isac/input/literature 全部本地 PDF 全文&lt;/Text&gt;&#10;        &lt;Text style={{ fontSize: 14, color: '#8B97A8' }}&gt;全篇定量结论均可回溯原文，并经接地门禁校验（11/11 通过）；原文未给出者标注「文献未说明」，不做推断补全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9334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LITERATURE REVIEW · </a:t>
            </a:r>
            <a:r>
              <a:rPr lang="zh-CN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组会文献汇报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314450"/>
            <a:ext cx="10363200" cy="1647825"/>
          </a:xfrm>
          <a:prstGeom prst="rect"/>
        </p:spPr>
        <p:txBody>
          <a:bodyPr wrap="none" lIns="0" tIns="0" rIns="0" bIns="0"/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高机动低空场景下的</a:t>
            </a:r>
            <a:endParaRPr/>
          </a:p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多普勒域（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OTFS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）通感一体化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152775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波形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/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调制层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DD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域感知参数估计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感知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-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通信折中刻画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667125"/>
            <a:ext cx="1143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10363200" cy="8763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文献基础：本地精读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11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IEEE / Springer /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机构库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OA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刊，池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39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篇）</a:t>
            </a:r>
            <a:endParaRPr/>
          </a:p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汇报人：＿＿＿＿　　指导老师：＿＿＿＿　　日期：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2026-09-14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5676900"/>
            <a:ext cx="12192000" cy="118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证据来源：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examples/otfs-isac/input/literature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全部本地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PDF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全篇定量结论均可回溯原文，并经接地门禁校验（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11/11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通过）；原文未给出者标注「文献未说明」，不做推断补全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目录&lt;/Text&gt;&#10;        &lt;Text style={{ fontSize: 15, color: '#A8C2E8' }}&gt;CONTENTS&lt;/Text&gt;&#10;    &lt;/Box&gt;&#10;    &lt;Box style={{ height: 580, padding: '30px 56px 0 56px', display: 'flex', flexDirection: 'column', gap: 18 }}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1&lt;/Text&gt;&#10;            &lt;Box style={{ width: 1, height: 90, background: '#D6DCE5', marginRight: 28 }} /&gt;&#10;            &lt;Box style={{ flex: 1 }}&gt;&#10;                &lt;Text style={{ fontSize: 26, fontWeight: 'bold', color: '#0E3F8C' }}&gt;为什么难&lt;/Text&gt;&#10;                &lt;Text style={{ fontSize: 18, color: '#4A5568', marginTop: 8 }}&gt;方向定位 · 三重矛盾 —— OFDM 家族的前提在低空高机动下失效&lt;/Text&gt;&#10;            &lt;/Box&gt;&#10;            &lt;Text style={{ fontSize: 16, color: '#8B97A8' }}&gt;P04 – P05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2&lt;/Text&gt;&#10;            &lt;Box style={{ width: 1, height: 90, background: '#D6DCE5', marginRight: 28 }} /&gt;&#10;            &lt;Box style={{ flex: 1 }}&gt;&#10;                &lt;Text style={{ fontSize: 26, fontWeight: 'bold', color: '#0E3F8C' }}&gt;文献格局&lt;/Text&gt;&#10;                &lt;Text style={{ fontSize: 18, color: '#4A5568', marginTop: 8 }}&gt;四阶段演进 · 四类方法 · 六篇代表文献 —— 这一支已经做到哪一步&lt;/Text&gt;&#10;            &lt;/Box&gt;&#10;            &lt;Text style={{ fontSize: 16, color: '#8B97A8' }}&gt;P07 – P11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3&lt;/Text&gt;&#10;            &lt;Box style={{ width: 1, height: 90, background: '#D6DCE5', marginRight: 28 }} /&gt;&#10;            &lt;Box style={{ flex: 1 }}&gt;&#10;                &lt;Text style={{ fontSize: 26, fontWeight: 'bold', color: '#0E3F8C' }}&gt;还缺什么&lt;/Text&gt;&#10;                &lt;Text style={{ fontSize: 18, color: '#4A5568', marginTop: 8 }}&gt;对比总结 · 五个切入点 —— 哪些是真空白，研一可以怎么做&lt;/Text&gt;&#10;            &lt;/Box&gt;&#10;            &lt;Text style={{ fontSize: 16, color: '#8B97A8' }}&gt;P13 – P15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2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039475" y="2952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33400" y="1047750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155257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1943100" y="1438275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219325" y="1571625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219325" y="1952625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方向定位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三重矛盾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OFDM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家族的前提在低空高机动下失效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668000" y="177165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P04 – P05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3400" y="2847975"/>
            <a:ext cx="11125200" cy="163830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943100" y="323850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219325" y="337185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219325" y="375285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四阶段演进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四类方法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六篇代表文献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这一支已经做到哪一步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668000" y="357187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P07 – P11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33400" y="4657725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5162550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1943100" y="504825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219325" y="518160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219325" y="556260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对比总结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五个切入点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哪些是真空白，研一可以怎么做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0" y="53816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P13 – P15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1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ONE&lt;/Text&gt;&#10;        &lt;Text style={{ fontSize: 48, fontWeight: 'bold', color: '#FFFFFF' }}&gt;为什么难&lt;/Text&gt;&#10;        &lt;Box style={{ height: 3, width: 100, background: '#3D7BD9' }} /&gt;&#10;        &lt;Text style={{ fontSize: 22, color: '#A8C2E8', lineHeight: 2 }}&gt;&#10;            既有 ISAC 工作都在 OFDM 家族内部改良&lt;br /&gt;&#10;            其隐含前提是「信道在符号周期内近似不变」&lt;br /&gt;&#10;            低空高机动恰恰违反这个前提，波形改良的收益被信道时变吃掉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ONE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既有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工作都在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OFDM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家族内部改良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其隐含前提是「信道在符号周期内近似不变」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低空高机动恰恰违反这个前提，波形改良的收益被信道时变吃掉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方向定位：不是「更难的 OFDM」，而是换一个维度描述信道&lt;/Text&gt;&#10;        &lt;Text style={{ fontSize: 15, color: '#A8C2E8' }}&gt;研究定位&lt;/Text&gt;&#10;    &lt;/Box&gt;&#10;    &lt;Box style={{ height: 580, padding: '26px 56px 0 56px', display: 'flex', flexDirection: 'column' }}&gt;&#10;        &lt;Box style={{ height: 52, background: '#0E3F8C', borderRadius: 6, display: 'flex', alignItems: 'center', padding: '0 22px' }}&gt;&#10;            &lt;Text style={{ fontSize: 19, fontWeight: 'bold', color: '#FFFFFF' }}&gt;OFDM-ISAC 在低空高机动下同时踩到两个失效点&lt;/Text&gt;&#10;        &lt;/Box&gt;&#10;        &lt;Box style={{ marginTop: 18, display: 'flex', flexDirection: 'column', gap: 12 }}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感知侧&lt;/Text&gt;&#10;                &lt;Text style={{ fontSize: 18, color: '#1A2230', lineHeight: 1.6, flex: 1 }}&gt;&#10;                    高机动目标造成不可忽略的 ICI，MIMO-OFDM 雷达的 2-D FFT 处理因高旁瓣而性能显著下降，必须改用 ICI 感知算法补救（[39]）。&#10;                &lt;/Text&gt;&#10;            &lt;/Box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通信侧&lt;/Text&gt;&#10;                &lt;Text style={{ fontSize: 18, color: '#1A2230', lineHeight: 1.6, flex: 1 }}&gt;&#10;                    子载波数增大时，即使小到中等多普勒也会让 OFDM 显著退化；而 CP 长度在某些标准中可占符号时间最高 25%（[06]）。&#10;                &lt;/Text&gt;&#10;            &lt;/Box&gt;&#10;            &lt;Box style={{ background: '#F0F5FC', borderLeft: '5px solid #1E4FA8', borderRadius: 6, padding: '14px 22px', display: 'flex', flexDirection: 'row', gap: 16, alignItems: 'flex-start' }}&gt;&#10;                &lt;Text style={{ fontSize: 18, fontWeight: 'bold', color: '#0E3F8C', width: 92 }}&gt;OTFS 的&lt;br /&gt;回应&lt;/Text&gt;&#10;                &lt;Text style={{ fontSize: 18, color: '#1A2230', lineHeight: 1.6, flex: 1 }}&gt;&#10;                    把调制搬到 &lt;span style={{ fontWeight: 'bold', color: '#0E3F8C' }}&gt;时延-多普勒（DD）域&lt;/span&gt;：恒定多普勒的时变信道在 OTFS 看来是&lt;span style={{ fontWeight: 'bold', color: '#0E3F8C' }}&gt;时不变&lt;/span&gt;的（[04]）；DD 域 I/O 关系可用离散 Zak 变换简洁写出，比 OFDM 的复合结构更直接（[35]）。&#10;                &lt;/Text&gt;&#10;            &lt;/Box&gt;&#10;        &lt;/Box&gt;&#10;        &lt;Box style={{ flex: 1 }} /&gt;&#10;        &lt;Box style={{ height: 74, background: '#FCEBEB', borderLeft: '5px solid #D32F2F', borderRadius: 6, display: 'flex', alignItems: 'center', padding: '0 22px' }}&gt;&#10;            &lt;Text style={{ fontSize: 19, color: '#1A2230', lineHeight: 1.5 }}&gt;&#10;                因此这不是「再优化一次 OFDM」，而是&lt;span style={{ fontWeight: 'bold', color: '#A32D2D' }}&gt;换一个维度描述信道&lt;/span&gt;——波形层的选择本身成为一个待回答的研究问题，而非默认沿用 OFDM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78581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方向定位：不是「更难的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OFDM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」，而是换一个维度描述信道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33400" y="1009650"/>
            <a:ext cx="111252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2950" y="115252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OFDM-ISAC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在低空高机动下同时踩到两个失效点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33400" y="1676400"/>
            <a:ext cx="11125200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2950" y="18097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感知侧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771650" y="1809750"/>
            <a:ext cx="9677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高机动目标造成不可忽略的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MIMO-OFDM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处理因高旁瓣而性能显著下降，必须改用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感知算法补救（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[39]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33400" y="2724150"/>
            <a:ext cx="11125200" cy="600075"/>
          </a:xfrm>
          <a:prstGeom prst="roundRect">
            <a:avLst>
              <a:gd name="adj" fmla="val 1269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42950" y="28575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通信侧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771650" y="2857500"/>
            <a:ext cx="96774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子载波数增大时，即使小到中等多普勒也会让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显著退化；而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长度在某些标准中可占符号时间最高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25%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81025" y="3438525"/>
            <a:ext cx="11125200" cy="933450"/>
          </a:xfrm>
          <a:prstGeom prst="roundRect">
            <a:avLst>
              <a:gd name="adj" fmla="val 61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81025" y="3438525"/>
            <a:ext cx="11125200" cy="933450"/>
          </a:xfrm>
          <a:custGeom>
            <a:pathLst>
              <a:path w="1168" h="9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7"/>
                </a:lnTo>
                <a:cubicBezTo>
                  <a:pt x="5" y="98"/>
                  <a:pt x="5" y="98"/>
                  <a:pt x="6" y="98"/>
                </a:cubicBezTo>
                <a:cubicBezTo>
                  <a:pt x="3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90575" y="3571875"/>
            <a:ext cx="876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endParaRPr/>
          </a:p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回应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819275" y="3571875"/>
            <a:ext cx="96297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把调制搬到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多普勒（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DD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）域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：恒定多普勒的时变信道在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看来是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时不变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关系可用离散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变换简洁写出，比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的复合结构更直接（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81025" y="5581650"/>
            <a:ext cx="11125200" cy="704850"/>
          </a:xfrm>
          <a:prstGeom prst="roundRect">
            <a:avLst>
              <a:gd name="adj" fmla="val 810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581025" y="5581650"/>
            <a:ext cx="11125200" cy="704850"/>
          </a:xfrm>
          <a:custGeom>
            <a:pathLst>
              <a:path w="1168" h="7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3"/>
                </a:lnTo>
                <a:cubicBezTo>
                  <a:pt x="5" y="74"/>
                  <a:pt x="5" y="74"/>
                  <a:pt x="6" y="74"/>
                </a:cubicBezTo>
                <a:cubicBezTo>
                  <a:pt x="3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90575" y="5610225"/>
            <a:ext cx="106584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因此这不是「再优化一次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」，而是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换一个维度描述信道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——波形层的选择本身成为一个待回答的研究问题，而非默认沿用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矛盾落在三个层面&lt;/Text&gt;&#10;        &lt;Text style={{ fontSize: 15, color: '#A8C2E8' }}&gt;研究定位&lt;/Text&gt;&#10;    &lt;/Box&gt;&#10;    &lt;Box style={{ height: 580, padding: '24px 40px 0 40px', display: 'flex', flexDirection: 'column' }}&gt;&#10;        &lt;Box style={{ height: 44, background: '#0E3F8C', borderRadius: 6, display: 'flex', alignItems: 'center', padding: '0 20px', marginBottom: 16 }}&gt;&#10;            &lt;Text style={{ fontSize: 18, fontWeight: 'bold', color: '#FFFFFF' }}&gt;同一份频谱 · 同一套硬件 · 同一个波形 —— 冲突由此产生，且逐层传导&lt;/Text&gt;&#10;        &lt;/Box&gt;&#10;        &lt;Box style={{ height: 400, display: 'flex', flexDirection: 'row', alignItems: 'stretch' }}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A&lt;/Text&gt;&#10;                &lt;/Box&gt;&#10;                &lt;Text style={{ fontSize: 25, fontWeight: 'bold', color: '#0E3F8C', marginTop: 14 }}&gt;波形层&lt;/Text&gt;&#10;                &lt;Text style={{ fontSize: 18, color: '#1A2230', lineHeight: 1.6, marginTop: 10, flex: 1 }}&gt;&#10;                    同一波形既要承载信息又要承载探测；OFDM 在时变信道下的 ICI/CP 开销两难，需在 DD 域另起炉灶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35] [34] [25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B&lt;/Text&gt;&#10;                &lt;/Box&gt;&#10;                &lt;Text style={{ fontSize: 25, fontWeight: 'bold', color: '#0E3F8C', marginTop: 14 }}&gt;感知算法层&lt;/Text&gt;&#10;                &lt;Text style={{ fontSize: 18, color: '#1A2230', lineHeight: 1.6, marginTop: 10, flex: 1 }}&gt;&#10;                    DD 域里 ISI/ICI 既可致目标遮蔽，也可被利用；多普勒斜视与网格失配会让估计精度悄悄下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4] [20] [39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C&lt;/Text&gt;&#10;                &lt;/Box&gt;&#10;                &lt;Text style={{ fontSize: 25, fontWeight: 'bold', color: '#0E3F8C', marginTop: 14 }}&gt;系统层&lt;/Text&gt;&#10;                &lt;Text style={{ fontSize: 18, color: '#1A2230', lineHeight: 1.6, marginTop: 10, flex: 1 }}&gt;&#10;                    全盘换 OTFS 未必经济；需按用户移动性决定谁用 OTFS、谁用 OFDM，并回答「折中的极限在哪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5] [06] [25]&lt;/Text&gt;&#10;                &lt;/Box&gt;&#10;            &lt;/Box&gt;&#10;        &lt;/Box&gt;&#10;        &lt;Box style={{ height: 68, marginTop: 16, background: '#F0F5FC', borderLeft: '5px solid #1E4FA8', borderRadius: 6, display: 'flex', alignItems: 'center', padding: '0 22px' }}&gt;&#10;            &lt;Text style={{ fontSize: 19, color: '#1A2230', lineHeight: 1.5 }}&gt;&#10;                三层并非独立：波形决定可用的信号结构，算法决定能从结构里取出多少信息，系统决定前两者的适用边界——&lt;span style={{ fontWeight: 'bold', color: '#0E3F8C' }}&gt;任一层的简化都会使结论失真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5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矛盾落在三个层面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545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同一份频谱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同一套硬件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同一个波形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冲突由此产生，且逐层传导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波形层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同一波形既要承载信息又要承载探测；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在时变信道下的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ICI/CP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开销两难，需在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域另起炉灶。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57325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[35] [34] [25]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0290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295775" y="1562100"/>
            <a:ext cx="3600450" cy="3810000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4862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86275" y="2305050"/>
            <a:ext cx="321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感知算法层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86275" y="2686050"/>
            <a:ext cx="3219450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既可致目标遮蔽，也可被利用；多普勒斜视与网格失配会让估计精度悄悄下降。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486275" y="4800600"/>
            <a:ext cx="3219450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721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[04] [20] [39]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9533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220075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4105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410575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系统层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410575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全盘换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未必经济；需按用户移动性决定谁用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，并回答「折中的极限在哪」。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410575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2964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[05] [06] [25]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28625" y="5524500"/>
            <a:ext cx="11430000" cy="647700"/>
          </a:xfrm>
          <a:prstGeom prst="roundRect">
            <a:avLst>
              <a:gd name="adj" fmla="val 88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428625" y="5524500"/>
            <a:ext cx="11430000" cy="647700"/>
          </a:xfrm>
          <a:custGeom>
            <a:pathLst>
              <a:path w="1200" h="6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7"/>
                </a:lnTo>
                <a:cubicBezTo>
                  <a:pt x="5" y="68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38175" y="5524500"/>
            <a:ext cx="10963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三层并非独立：波形决定可用的信号结构，算法决定能从结构里取出多少信息，系统决定前两者的适用边界——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任一层的简化都会使结论失真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2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WO&lt;/Text&gt;&#10;        &lt;Text style={{ fontSize: 48, fontWeight: 'bold', color: '#FFFFFF' }}&gt;文献格局&lt;/Text&gt;&#10;        &lt;Box style={{ height: 3, width: 100, background: '#3D7BD9' }} /&gt;&#10;        &lt;Text style={{ fontSize: 22, color: '#A8C2E8', lineHeight: 2 }}&gt;&#10;            从「让 OTFS 可分析」到「把 OTFS 做成 ISAC 完整方案」&lt;br /&gt;&#10;            四个阶段、四类方法、六篇代表文献&lt;br /&gt;&#10;            这一支的成熟度，可以用标准化视角来标定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TWO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从「让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可分析」到「把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做成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完整方案」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四个阶段、四类方法、六篇代表文献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这一支的成熟度，可以用标准化视角来标定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个阶段：从通信波形到 ISAC 完整方案&lt;/Text&gt;&#10;        &lt;Text style={{ fontSize: 15, color: '#A8C2E8' }}&gt;发展脉络&lt;/Text&gt;&#10;    &lt;/Box&gt;&#10;    &lt;Box style={{ height: 580, padding: '30px 40px 0 40px', display: 'flex', flexDirection: 'column' }}&gt;&#10;        &lt;Box style={{ height: 396, display: 'flex', flexDirection: 'row', alignItems: 'stretch' }}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1 · 2017–2022&lt;/Text&gt;&#10;                &lt;Text style={{ fontSize: 24, fontWeight: 'bold', color: '#0E3F8C', marginTop: 10 }}&gt;OTFS 被理论化&lt;/Text&gt;&#10;                &lt;Text style={{ fontSize: 17, color: '#1A2230', lineHeight: 1.6, marginTop: 10, flex: 1 }}&gt;&#10;                    用离散 Zak 变换导出 DD 域 I/O 关系与容量；推导所有 OTFS 变体的通用 I/O 与低复杂度检测。让 OTFS 可分析、可实现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5] [38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2 · 2021–2022&lt;/Text&gt;&#10;                &lt;Text style={{ fontSize: 24, fontWeight: 'bold', color: '#0E3F8C', marginTop: 10 }}&gt;OFDM 困境暴露&lt;/Text&gt;&#10;                &lt;Text style={{ fontSize: 17, color: '#1A2230', lineHeight: 1.6, marginTop: 10, flex: 1 }}&gt;&#10;                    高机动 ICI 让 MIMO-OFDM 雷达的 2-D FFT 失效；OTFS 机载 BER 评估确认其多普勒鲁棒性。张力就此框定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9] [37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3 · 2022–2024&lt;/Text&gt;&#10;                &lt;Text style={{ fontSize: 24, fontWeight: 'bold', color: '#0E3F8C', marginTop: 10 }}&gt;公平对比与折中澄清&lt;/Text&gt;&#10;                &lt;Text style={{ fontSize: 17, color: '#1A2230', lineHeight: 1.6, marginTop: 10, flex: 1 }}&gt;&#10;                    同开销下比较速率，指出优势来自 GI/CP 结构；ISAC 折中的信息论标尺建立。问题从「谁更好」变为「好多少、为什么」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06] [05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EAF1FB', border: '1px solid #3D7BD9', borderRadius: 8, padding: '18px 18px', display: 'flex', flexDirection: 'column' }}&gt;&#10;                &lt;Text style={{ fontSize: 15, fontWeight: 'bold', color: '#3D7BD9', letterSpacing: 1 }}&gt;PHASE 04 · 2024–2026&lt;/Text&gt;&#10;                &lt;Text style={{ fontSize: 24, fontWeight: 'bold', color: '#0E3F8C', marginTop: 10 }}&gt;OTFS-ISAC 成型&lt;/Text&gt;&#10;                &lt;Text style={{ fontSize: 17, color: '#1A2230', lineHeight: 1.6, marginTop: 10, flex: 1 }}&gt;&#10;                    ISI/ICI 被显式建模并利用；波形统一框架、离网格信道估计、混合调度、标准化路径相继出现。&#10;                &lt;/Text&gt;&#10;                &lt;Box style={{ height: 36, background: '#D6E4F7', borderRadius: 6, display: 'flex', alignItems: 'center', justifyContent: 'center' }}&gt;&#10;                    &lt;Text style={{ fontSize: 16, fontWeight: 'bold', color: '#0E3F8C' }}&gt;[04] [34] [20] [25] [23]&lt;/Text&gt;&#10;                &lt;/Box&gt;&#10;            &lt;/Box&gt;&#10;        &lt;/Box&gt;&#10;        &lt;Box style={{ height: 92, marginTop: 20, background: '#F0F5FC', borderLeft: '5px solid #1E4FA8', borderRadius: 6, display: 'flex', alignItems: 'center', padding: '0 22px' }}&gt;&#10;            &lt;Text style={{ fontSize: 19, color: '#1A2230', lineHeight: 1.55 }}&gt;&#10;                脉络的转折点在第 2→3 阶段之间：&lt;span style={{ fontWeight: 'bold', color: '#0E3F8C' }}&gt;前半段在证明「OTFS 可用」，后半段在回答「OTFS 比 OFDM 强在哪、强多少」&lt;/span&gt;——而第 4 阶段仍未回答「感知指标如何横向比较」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7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133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四个阶段：从通信波形到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ISAC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完整方案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发展脉络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81000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01 · 2017–2022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52450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被理论化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2450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用离散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变换导出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关系与容量；推导所有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变体的通用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与低复杂度检测。让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可分析、可实现。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52450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716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[35] [38]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076575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314700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486150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02 · 2021–2022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486150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困境暴露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486150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高机动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失效；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机载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评估确认其多普勒鲁棒性。张力就此框定。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486150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3053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[39] [37]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007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238875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410325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03 · 2022–2024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410325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公平对比与折中澄清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410325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同开销下比较速率，指出优势来自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GI/CP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结构；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ISAC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折中的信息论标尺建立。问题从「谁更好」变为「好多少、为什么」。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410325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229475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[06] [05]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344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72575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344025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3D7BD9"/>
                </a:solidFill>
                <a:latin typeface="Source Han Sans SC"/>
                <a:ea typeface="Source Han Sans SC"/>
              </a:rPr>
              <a:t>PHASE 04 · 2024–2026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344025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成型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344025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被显式建模并利用；波形统一框架、离网格信道估计、混合调度、标准化路径相继出现。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9344025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D6E4F7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629775" y="43815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ource Han Sans SC"/>
                <a:ea typeface="Source Han Sans SC"/>
              </a:rPr>
              <a:t>[04] [34] [20] [25] [23]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28625" y="5010150"/>
            <a:ext cx="11430000" cy="876300"/>
          </a:xfrm>
          <a:prstGeom prst="roundRect">
            <a:avLst>
              <a:gd name="adj" fmla="val 65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428625" y="5010150"/>
            <a:ext cx="11430000" cy="876300"/>
          </a:xfrm>
          <a:custGeom>
            <a:pathLst>
              <a:path w="12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8175" y="5114925"/>
            <a:ext cx="10963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脉络的转折点在第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2→3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阶段之间：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前半段在证明「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可用」，后半段在回答「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比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强在哪、强多少」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——而第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4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阶段仍未回答「感知指标如何横向比较」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类方法：改动发生在哪一层&lt;/Text&gt;&#10;        &lt;Text style={{ fontSize: 15, color: '#A8C2E8' }}&gt;方法分类&lt;/Text&gt;&#10;    &lt;/Box&gt;&#10;    &lt;Box style={{ height: 580, padding: '26px 40px 0 40px', display: 'flex', flexDirection: 'column' }}&gt;&#10;        &lt;Box style={{ height: 42, background: '#0E3F8C', borderRadius: 6, display: 'flex', alignItems: 'center', padding: '0 20px', marginBottom: 14 }}&gt;&#10;            &lt;Text style={{ fontSize: 18, fontWeight: 'bold', color: '#FFFFFF' }}&gt;四个家族互斥，且各自有明确的代价——没有「全都更好」的选项&lt;/Text&gt;&#10;        &lt;/Box&gt;&#10;        &lt;Box style={{ height: 392, display: 'flex', flexDirection: 'row', gap: 14 }}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A · 波形与调制设计&lt;/Text&gt;&#10;                    &lt;Text style={{ fontSize: 16, color: '#1A2230', lineHeight: 1.55, marginTop: 6, flex: 1 }}&gt;&#10;                        在 DD 域或其分数阶推广上构造通感波形。统一矩阵可退化为多种波形，但分数阶参数无通用选择准则（[34]）。&#10;                    &lt;/Text&gt;&#10;                    &lt;Text style={{ fontSize: 15, fontWeight: 'bold', color: '#1E4FA8' }}&gt;[34] [35] [25] [23]&lt;/Text&gt;&#10;                &lt;/Box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B · DD 域感知估计与检测&lt;/Text&gt;&#10;                    &lt;Text style={{ fontSize: 16, color: '#1A2230', lineHeight: 1.55, marginTop: 6, flex: 1 }}&gt;&#10;                        把 ISI/ICI 纳入模型甚至加以利用。GLRT 三维估计 + DD 复用可突破无模糊距离上限，但采用窄带近似（[04]）。&#10;                    &lt;/Text&gt;&#10;                    &lt;Text style={{ fontSize: 15, fontWeight: 'bold', color: '#1E4FA8' }}&gt;[04] [20] [39]&lt;/Text&gt;&#10;                &lt;/Box&gt;&#10;            &lt;/Box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C · 信道估计与低复杂度接收机&lt;/Text&gt;&#10;                    &lt;Text style={{ fontSize: 16, color: '#1A2230', lineHeight: 1.55, marginTop: 6, flex: 1 }}&gt;&#10;                        把同步误差并入信道、利用时域更高稀疏度降复杂度；通用 MRC 对全部 OTFS 变体性能一致。但不含感知（[30] [38]）。&#10;                    &lt;/Text&gt;&#10;                    &lt;Text style={{ fontSize: 15, fontWeight: 'bold', color: '#1E4FA8' }}&gt;[30] [38]&lt;/Text&gt;&#10;                &lt;/Box&gt;&#10;                &lt;Box style={{ flex: 1, background: '#EAF1FB', border: '1px solid #3D7BD9', borderRadius: 8, padding: '14px 18px', display: 'flex', flexDirection: 'column' }}&gt;&#10;                    &lt;Text style={{ fontSize: 22, fontWeight: 'bold', color: '#0E3F8C' }}&gt;D · 折中刻画与系统调度&lt;/Text&gt;&#10;                    &lt;Text style={{ fontSize: 16, color: '#1A2230', lineHeight: 1.55, marginTop: 6, flex: 1 }}&gt;&#10;                        刻画感知-通信折中，或决定「谁用 OTFS」。但信息论折中与波形脱节，混合方案只覆盖通信维度（[05] [06] [25]）。&#10;                    &lt;/Text&gt;&#10;                    &lt;Text style={{ fontSize: 15, fontWeight: 'bold', color: '#0E3F8C' }}&gt;[05] [06] [25]&lt;/Text&gt;&#10;                &lt;/Box&gt;&#10;            &lt;/Box&gt;&#10;        &lt;/Box&gt;&#10;        &lt;Box style={{ height: 72, marginTop: 16, background: '#FCEBEB', borderLeft: '5px solid #D32F2F', borderRadius: 6, display: 'flex', alignItems: 'center', padding: '0 22px' }}&gt;&#10;            &lt;Text style={{ fontSize: 19, color: '#1A2230', lineHeight: 1.5 }}&gt;&#10;                这四类中，&lt;span style={{ fontWeight: 'bold', color: '#A32D2D' }}&gt;没有一类同时给出「感知 + 通信 + 可比较的评测」&lt;/span&gt;——每一类都在自己的维度里成立了，而维度之间尚未打通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8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四类方法：改动发生在哪一层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方法分类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100965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1104900"/>
            <a:ext cx="500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四个家族互斥，且各自有明确的代价——没有「全都更好」的选项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A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波形与调制设计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域或其分数阶推广上构造通感波形。统一矩阵可退化为多种波形，但分数阶参数无通用选择准则（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52450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[34] [35] [25] [23]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81000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52450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B · DD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域感知估计与检测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52450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纳入模型甚至加以利用。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三维估计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+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复用可突破无模糊距离上限，但采用窄带近似（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52450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[04] [20] [39]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162675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334125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C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信道估计与低复杂度接收机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334125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把同步误差并入信道、利用时域更高稀疏度降复杂度；通用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MRC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对全部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变体性能一致。但不含感知（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[30] [38]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334125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[30] [38]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62675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334125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D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折中刻画与系统调度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34125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刻画感知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通信折中，或决定「谁用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」。但信息论折中与波形脱节，混合方案只覆盖通信维度（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[05] [06] [25]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34125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[05] [06] [25]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28625" y="5429250"/>
            <a:ext cx="11430000" cy="685800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28625" y="5429250"/>
            <a:ext cx="11430000" cy="685800"/>
          </a:xfrm>
          <a:custGeom>
            <a:pathLst>
              <a:path w="1200" h="7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1"/>
                </a:lnTo>
                <a:cubicBezTo>
                  <a:pt x="5" y="72"/>
                  <a:pt x="5" y="72"/>
                  <a:pt x="6" y="72"/>
                </a:cubicBezTo>
                <a:cubicBezTo>
                  <a:pt x="3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38175" y="5610225"/>
            <a:ext cx="975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这四类中，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没有一类同时给出「感知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通信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可比较的评测」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——每一类都在自己的维度里成立了，而维度之间尚未打通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Ⅰ · 机制层：优势到底从哪来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优势必须被解释到机制层，而不是「新波形天然更好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4]&lt;/Text&gt;&#10;                    &lt;/Box&gt;&#10;                    &lt;Text style={{ fontSize: 22, fontWeight: 'bold', color: '#0E3F8C' }}&gt;ISI/ICI 由干扰变为资源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M 倍&lt;/Text&gt;&#10;                    &lt;Text style={{ fontSize: 16, color: '#8B97A8', lineHeight: 1.4 }}&gt;无模糊距离&lt;br /&gt;扩大倍数&lt;/Text&gt;&#10;                &lt;/Box&gt;&#10;                &lt;Text style={{ fontSize: 21, color: '#1A2230', lineHeight: 1.55, flex: 1, marginTop: 8 }}&gt;&#10;                    推导显式含 ISI/ICI 的 MIMO-OTFS ISAC 信号模型；GLRT 做时延-多普勒-角度三维估计；delay-Doppler 复用为雷达构造虚拟阵列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相对标准 FFT 方法在检测与定位上显著提升；无模糊距离扩大 M 倍而保持距离分辨率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纯仿真；窄带近似（|vk| &amp;lt; 150 m/s）；单用户/单站，多用户被列为未来工作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6]&lt;/Text&gt;&#10;                    &lt;/Box&gt;&#10;                    &lt;Text style={{ fontSize: 22, fontWeight: 'bold', color: '#0E3F8C' }}&gt;优势来自 GI，不是波形魔法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3.125%&lt;/Text&gt;&#10;                    &lt;Text style={{ fontSize: 16, color: '#8B97A8', lineHeight: 1.4 }}&gt;选定导频开销&lt;br /&gt;（重估后）&lt;/Text&gt;&#10;                &lt;/Box&gt;&#10;                &lt;Text style={{ fontSize: 21, color: '#1A2230', lineHeight: 1.55, flex: 1, marginTop: 8 }}&gt;&#10;                    在相同导频/信道估计开销下对比可达速率，为两种调制各自设计适配稀疏信道的导频与估计算法，并联合优化导频开销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结论：&lt;/span&gt;OTFS 速率更高，主因是 per-symbol GI 而非 per-symbol CP；OTFS 对多普勒量级不敏感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比较通信速率、不含感知；依赖稀疏信道假设；OTFS 估计需大块运算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两篇合起来回答了核心问题的一半：&lt;span style={{ fontWeight: 'bold', color: '#0E3F8C' }}&gt;「为什么 OTFS 值得换」已经清楚，「换取多少感知收益」仍只有 [04] 一家在给数值曲线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9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Ⅰ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机制层：优势到底从哪来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共同主张：优势必须被解释到机制层，而不是「新波形天然更好」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[04]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18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ISI/ICI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由干扰变为资源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2076450"/>
            <a:ext cx="11144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M </a:t>
            </a:r>
            <a:r>
              <a:rPr lang="zh-CN" sz="3750" b="1">
                <a:solidFill>
                  <a:srgbClr val="1E4FA8"/>
                </a:solidFill>
                <a:latin typeface="Source Han Sans SC"/>
                <a:ea typeface="Source Han Sans SC"/>
              </a:rPr>
              <a:t>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781175" y="2133600"/>
            <a:ext cx="762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无模糊距离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扩大倍数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推导显式含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 ISAC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信号模型；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做时延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多普勒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角度三维估计；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delay-Doppler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复用为雷达构造虚拟阵列。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相对标准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方法在检测与定位上显著提升；无模糊距离扩大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倍而保持距离分辨率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纯仿真；窄带近似（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）；单用户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单站，多用户被列为未来工作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[06]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600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优势来自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GI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，不是波形魔法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362700" y="2076450"/>
            <a:ext cx="17621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3.125%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220075" y="2133600"/>
            <a:ext cx="914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选定导频开销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（重估后）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在相同导频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信道估计开销下对比可达速率，为两种调制各自设计适配稀疏信道的导频与估计算法，并联合优化导频开销。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结论：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速率更高，主因是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GI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而非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CP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对多普勒量级不敏感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只比较通信速率、不含感知；依赖稀疏信道假设；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估计需大块运算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两篇合起来回答了核心问题的一半：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「为什么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值得换」已经清楚，「换取多少感知收益」仍只有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[04]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一家在给数值曲线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Ⅱ · 场景与波形：把参数做实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低空高机动必须落到可写进仿真配置的数字与可实现的复杂度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7]&lt;/Text&gt;&#10;                    &lt;/Box&gt;&#10;                    &lt;Text style={{ fontSize: 22, fontWeight: 'bold', color: '#0E3F8C' }}&gt;「高机动」到底有多高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1200 m/s&lt;/Text&gt;&#10;                    &lt;Text style={{ fontSize: 15, color: '#8B97A8', lineHeight: 1.4 }}&gt;相对速度&lt;br /&gt;量级&lt;/Text&gt;&#10;                &lt;/Box&gt;&#10;                &lt;Text style={{ fontSize: 21, color: '#1A2230', lineHeight: 1.55, flex: 1, marginTop: 8 }}&gt;&#10;                    系统评估 OTFS 在机载高多普勒网络中的 BER：变化物理层参数、DD bin 数、直达/两径地反射信道与 MIMO-OTFS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对应多普勒 52–72 kHz；OTFS 能在很宽的相对速度范围内补偿极高多普勒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 BER、不含感知；信道模型简化；无实测数据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4]&lt;/Text&gt;&#10;                    &lt;/Box&gt;&#10;                    &lt;Text style={{ fontSize: 22, fontWeight: 'bold', color: '#0E3F8C' }}&gt;把波形做成统一容器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对数线性&lt;/Text&gt;&#10;                    &lt;Text style={{ fontSize: 15, color: '#8B97A8', lineHeight: 1.4 }}&gt;均衡器复杂度&lt;br /&gt;（BER 无退化）&lt;/Text&gt;&#10;                &lt;/Box&gt;&#10;                &lt;Text style={{ fontSize: 21, color: '#1A2230', lineHeight: 1.55, flex: 1, marginTop: 8 }}&gt;&#10;                    用 DFrFT 给出统一矩阵框架，UM-OTFS 可通过分数阶退化为其他波形；三阶段感知估计 + 基于 LU 分解的分数阶均衡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高 SNR 下速度/距离估计误差更小；均衡达到对数线性复杂度且 BER 无退化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以仿真为主；分数阶参数如何选择无通用准则——波形层的又一次内部改良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两篇把方向钉在现实上：&lt;span style={{ fontWeight: 'bold', color: '#0E3F8C' }}&gt;[37] 给出场景参数的量级，[34] 给出波形层的实现代价&lt;/span&gt;——但收益边界（何时值得换）仍无人给出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0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Ⅱ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场景与波形：把参数做实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共同主张：低空高机动必须落到可写进仿真配置的数字与可实现的复杂度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[37]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「高机动」到底有多高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981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1200 m/s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6479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相对速度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量级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系统评估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在机载高多普勒网络中的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BER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：变化物理层参数、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DD bin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数、直达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两径地反射信道与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对应多普勒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52–72 kHz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能在很宽的相对速度范围内补偿极高多普勒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BER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、不含感知；信道模型简化；无实测数据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[34]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把波形做成统一容器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676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E4FA8"/>
                </a:solidFill>
                <a:latin typeface="Source Han Sans SC"/>
                <a:ea typeface="Source Han Sans SC"/>
              </a:rPr>
              <a:t>对数线性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34350" y="2162175"/>
            <a:ext cx="101917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均衡器复杂度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BER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无退化）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DFrFT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给出统一矩阵框架，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UM-OTFS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可通过分数阶退化为其他波形；三阶段感知估计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基于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LU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分解的分数阶均衡。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高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下速度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距离估计误差更小；均衡达到对数线性复杂度且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无退化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以仿真为主；分数阶参数如何选择无通用准则——波形层的又一次内部改良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这两篇把方向钉在现实上：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[37]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给出场景参数的量级，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给出波形层的实现代价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——但收益边界（何时值得换）仍无人给出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Ⅲ · 基线与系统：要不要全盘替换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一支给出「为什么必须换」，一支给出「不必全换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9]&lt;/Text&gt;&#10;                    &lt;/Box&gt;&#10;                    &lt;Text style={{ fontSize: 22, fontWeight: 'bold', color: '#0E3F8C' }}&gt;OFDM 自身的失败证据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2-D FFT&lt;/Text&gt;&#10;                    &lt;Text style={{ fontSize: 15, color: '#8B97A8', lineHeight: 1.4 }}&gt;因高旁瓣&lt;br /&gt;显著退化&lt;/Text&gt;&#10;                &lt;/Box&gt;&#10;                &lt;Text style={{ fontSize: 21, color: '#1A2230', lineHeight: 1.55, flex: 1, marginTop: 8 }}&gt;&#10;                    高机动目标使 MIMO-OFDM 雷达出现不可忽略 ICI；用 APES 空间滤波把感知重构为信道估计问题，在角域分离目标反射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强 ICI 下实现高精度多目标参数估计；传统 2-D FFT 因 DD 域高旁瓣性能显著下降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仍基于 OFDM；只关注感知，未涉通信速率与一体化联合设计&#10;                    &lt;/Text&gt;&#10;                &lt;/Box&gt;&#10;            &lt;/Box&gt;&#10;            &lt;Box style={{ flex: 1, background: '#EAF1FB', border: '1px solid #3D7BD9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0E3F8C', borderRadius: 5, display: 'flex', alignItems: 'center', justifyContent: 'center' }}&gt;&#10;                        &lt;Text style={{ fontSize: 16, fontWeight: 'bold', color: '#FFFFFF' }}&gt;[25]&lt;/Text&gt;&#10;                    &lt;/Box&gt;&#10;                    &lt;Text style={{ fontSize: 22, fontWeight: 'bold', color: '#0E3F8C' }}&gt;OTFS 不必全盘替代 OFDM&lt;/Text&gt;&#10;                &lt;/Box&gt;&#10;                &lt;Box style={{ height: 60, display: 'flex', flexDirection: 'row', alignItems: 'flex-end', gap: 10, marginTop: 8 }}&gt;&#10;                    &lt;Text style={{ fontSize: 44, fontWeight: 'bold', color: '#0E3F8C', lineHeight: 1 }}&gt;约 20%&lt;/Text&gt;&#10;                    &lt;Text style={{ fontSize: 15, color: '#8B97A8', lineHeight: 1.4 }}&gt;低移动性用户&lt;br /&gt;95%-likely SE 提升&lt;/Text&gt;&#10;                &lt;/Box&gt;&#10;                &lt;Text style={{ fontSize: 21, color: '#1A2230', lineHeight: 1.55, flex: 1, marginTop: 8 }}&gt;&#10;                    提出按用户移动性分组的混合 OTFS/OFDM 下行协议；比较 FZF/PZF 预编码，并采用加权 max-min 功率分配提升公平性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FZF 消除全部干扰但复杂度高；加权 max-min 使 LM-UE 的 95%-likely SE 提升约 20%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通信 SE、不含感知；未涉及 ISAC 折中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一对回答的是同一个问题的两端：&lt;span style={{ fontWeight: 'bold', color: '#0E3F8C' }}&gt;[39] 说明 OFDM 在高机动下会输，[25] 说明输的不一定全部要换&lt;/span&gt;——「何时该用 OTFS」仍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1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52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Ⅲ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基线与系统：要不要全盘替换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共同主张：一支给出「为什么必须换」，一支给出「不必全换」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[39]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自身的失败证据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2-D FFT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3050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因高旁瓣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显著退化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高机动目标使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雷达出现不可忽略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；用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APES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空间滤波把感知重构为信道估计问题，在角域分离目标反射。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下实现高精度多目标参数估计；传统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因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域高旁瓣性能显著下降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仍基于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OFDM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；只关注感知，未涉通信速率与一体化联合设计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[25]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不必全盘替代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457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SC"/>
                <a:ea typeface="Source Han Sans SC"/>
              </a:rPr>
              <a:t>约</a:t>
            </a:r>
            <a:r>
              <a:rPr lang="en-US" sz="3300" b="1">
                <a:solidFill>
                  <a:srgbClr val="0E3F8C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915275" y="2162175"/>
            <a:ext cx="123825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低移动性用户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95%-likely SE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提升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提出按用户移动性分组的混合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OTFS/OFDM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下行协议；比较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FZF/PZF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预编码，并采用加权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功率分配提升公平性。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FZF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消除全部干扰但复杂度高；加权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使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LM-UE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95%-likely 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提升约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5029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只评估通信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SE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、不含感知；未涉及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ISAC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折中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9125" y="5600700"/>
            <a:ext cx="11001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这一对回答的是同一个问题的两端：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[39]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在高机动下会输，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[25]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说明输的不一定全部要换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——「何时该用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」仍缺可操作准则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3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HREE&lt;/Text&gt;&#10;        &lt;Text style={{ fontSize: 48, fontWeight: 'bold', color: '#FFFFFF' }}&gt;还缺什么&lt;/Text&gt;&#10;        &lt;Box style={{ height: 3, width: 100, background: '#3D7BD9' }} /&gt;&#10;        &lt;Text style={{ fontSize: 22, color: '#A8C2E8', lineHeight: 2 }}&gt;&#10;            这一支已经解决 6 个问题，但仍有 5 个空白&lt;br /&gt;&#10;            两个缺口与第一个实例（低空 ISAC）同构，且更突出：指标不可比、全链路无实测&lt;br /&gt;&#10;            真正值得做的，是给后来者一个可比较的坐标系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THREE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这一支已经解决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6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个问题，但仍有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5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个空白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两个缺口与第一个实例（低空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）同构，且更突出：指标不可比、全链路无实测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真正值得做的，是给后来者一个可比较的坐标系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对比总结：已解决 6 项 vs 未解决 5 项&lt;/Text&gt;&#10;        &lt;Text style={{ fontSize: 15, color: '#A8C2E8' }}&gt;对比总结&lt;/Text&gt;&#10;    &lt;/Box&gt;&#10;    &lt;Box style={{ height: 580, padding: '28px 40px 0 40px', display: 'flex', flexDirection: 'row', gap: 0 }}&gt;&#10;        &lt;Box style={{ flex: 1, background: '#F2F8F3', border: '1px solid #C9E2CE', borderRadius: 8, padding: '18px 22px', display: 'flex', flexDirection: 'column' }}&gt;&#10;            &lt;Text style={{ fontSize: 24, fontWeight: 'bold', color: '#1E7A3C' }}&gt;已在文献自身设定内解决&lt;/Text&gt;&#10;            &lt;Box style={{ height: 3, width: 80, background: '#4CAF50', marginTop: 10, marginBottom: 12 }} /&gt;&#10;            &lt;Text style={{ fontSize: 18, color: '#1A2230', lineHeight: 1.72, flex: 1 }}&gt;&#10;                ① OTFS 的数学根基已清楚——DZT 给出简洁统一的 DD 域描述（[35]）&lt;br /&gt;&lt;br /&gt;&#10;                ② 「OTFS 是否真的优于 OFDM」已有公平答案，且优势归因到 GI 结构（[06]）&lt;br /&gt;&lt;br /&gt;&#10;                ③ 高多普勒下的通信性能已系统评估，量级到 1200 m/s（[37]）&lt;br /&gt;&lt;br /&gt;&#10;                ④ MIMO-OTFS ISAC 信号模型已建立，ISI/ICI 可被利用（[04]）&lt;br /&gt;&lt;br /&gt;&#10;                ⑤ 信道估计可达离网格高精度，DSE 已被显式建模（[20]）&lt;br /&gt;&lt;br /&gt;&#10;                ⑥ OTFS/OFDM 共存的工程路径与量化收益已有（[25]）&#10;            &lt;/Text&gt;&#10;        &lt;/Box&gt;&#10;        &lt;Box style={{ width: 70, display: 'flex', alignItems: 'center', justifyContent: 'center' }}&gt;&#10;            &lt;Text style={{ fontSize: 25, fontWeight: 'bold', color: '#3D7BD9' }}&gt;VS&lt;/Text&gt;&#10;        &lt;/Box&gt;&#10;        &lt;Box style={{ flex: 1, background: '#FDF3F3', border: '1px solid #E8C9C9', borderRadius: 8, padding: '18px 22px', display: 'flex', flexDirection: 'column' }}&gt;&#10;            &lt;Text style={{ fontSize: 24, fontWeight: 'bold', color: '#A32D2D' }}&gt;仍然没有解决&lt;/Text&gt;&#10;            &lt;Box style={{ height: 3, width: 80, background: '#D32F2F', marginTop: 10, marginBottom: 12 }} /&gt;&#10;            &lt;Text style={{ fontSize: 18, color: '#1A2230', lineHeight: 1.72, flex: 1 }}&gt;&#10;                ① &lt;span style={{ fontWeight: 'bold' }}&gt;感知指标不可比&lt;/span&gt;：四篇各用检测/定位、NMSE、估计误差、BER，无一篇给出可横向比较的基准&lt;br /&gt;&lt;br /&gt;&#10;                ② &lt;span style={{ fontWeight: 'bold' }}&gt;全链路无实测&lt;/span&gt;：池内 11 篇均为理论或仿真&lt;br /&gt;&lt;br /&gt;&#10;                ③ &lt;span style={{ fontWeight: 'bold' }}&gt;DD 域折中未打通理论&lt;/span&gt;：[04] 给数值曲线，[05] 给理论边界，两者之间无桥梁&lt;br /&gt;&lt;br /&gt;&#10;                ④ &lt;span style={{ fontWeight: 'bold' }}&gt;多用户/多站缺席&lt;/span&gt;：[04] 明确列为未来工作&lt;br /&gt;&lt;br /&gt;&#10;                ⑤ &lt;span style={{ fontWeight: 'bold' }}&gt;波形收益边界不清&lt;/span&gt;：何时值得换，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3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88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对比总结：已解决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6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vs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未解决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5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对比总结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1028700"/>
            <a:ext cx="5381625" cy="5819775"/>
          </a:xfrm>
          <a:prstGeom prst="roundRect">
            <a:avLst>
              <a:gd name="adj" fmla="val 1416"/>
            </a:avLst>
          </a:prstGeom>
          <a:solidFill>
            <a:srgbClr val="F2F8F3"/>
          </a:solidFill>
          <a:ln w="12700">
            <a:solidFill>
              <a:srgbClr val="C9E2CE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7A3C"/>
                </a:solidFill>
                <a:latin typeface="Source Han Sans SC"/>
                <a:ea typeface="Source Han Sans SC"/>
              </a:rPr>
              <a:t>已在文献自身设定内解决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90550" y="1571625"/>
            <a:ext cx="762000" cy="285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90550" y="1714500"/>
            <a:ext cx="4962525" cy="496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的数学根基已清楚——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DZT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给出简洁统一的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域描述（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是否真的优于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」已有公平答案，且优势归因到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GI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结构（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高多普勒下的通信性能已系统评估，量级到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1200 m/s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[37]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MIMO-OTFS ISAC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信号模型已建立，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可被利用（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信道估计可达离网格高精度，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DSE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已被显式建模（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[20]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⑥ OTFS/OFDM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共存的工程路径与量化收益已有（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943600" y="3514725"/>
            <a:ext cx="3143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3D7BD9"/>
                </a:solidFill>
                <a:latin typeface="Source Han Sans SC"/>
                <a:ea typeface="Source Han Sans SC"/>
              </a:rPr>
              <a:t>VS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29375" y="1028700"/>
            <a:ext cx="5381625" cy="5257800"/>
          </a:xfrm>
          <a:prstGeom prst="roundRect">
            <a:avLst>
              <a:gd name="adj" fmla="val 1449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38925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A32D2D"/>
                </a:solidFill>
                <a:latin typeface="Source Han Sans SC"/>
                <a:ea typeface="Source Han Sans SC"/>
              </a:rPr>
              <a:t>仍然没有解决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38925" y="1571625"/>
            <a:ext cx="762000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638925" y="1714500"/>
            <a:ext cx="4962525" cy="440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感知指标不可比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：四篇各用检测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定位、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NMSE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、估计误差、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BER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，无一篇给出可横向比较的基准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全链路无实测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：池内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11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篇均为理论或仿真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域折中未打通理论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给数值曲线，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[05]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给理论边界，两者之间无桥梁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多用户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多站缺席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明确列为未来工作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波形收益边界不清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：何时值得换，缺可操作准则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五个挑战 → 五个切入点&lt;/Text&gt;&#10;        &lt;Text style={{ fontSize: 15, color: '#A8C2E8' }}&gt;博士生切入&lt;/Text&gt;&#10;    &lt;/Box&gt;&#10;    &lt;Box style={{ height: 580, padding: '22px 40px 0 40px', display: 'flex', flexDirection: 'column', gap: 10 }}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1&lt;/Text&gt;&#10;            &lt;Box style={{ flex: 1 }}&gt;&#10;                &lt;Text style={{ fontSize: 20, fontWeight: 'bold', color: '#0E3F8C' }}&gt;统一 OTFS-ISAC 感知评测基准&lt;/Text&gt;&#10;                &lt;Text style={{ fontSize: 16, color: '#1A2230', marginTop: 3 }}&gt;以 [04] 的信号模型为底座，同一场景下并列检测概率、估计 RMSE、分辨能力与可达速率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2&lt;/Text&gt;&#10;            &lt;Box style={{ flex: 1 }}&gt;&#10;                &lt;Text style={{ fontSize: 20, fontWeight: 'bold', color: '#0E3F8C' }}&gt;DD 域感知-通信折中的理论刻画&lt;/Text&gt;&#10;                &lt;Text style={{ fontSize: 16, color: '#1A2230', marginTop: 3 }}&gt;把 [05] 的容量-失真框架移植到 DD 域，给出 OTFS-ISAC 折中的内外界，接通 [04] 的数值曲线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3&lt;/Text&gt;&#10;            &lt;Box style={{ flex: 1 }}&gt;&#10;                &lt;Text style={{ fontSize: 20, fontWeight: 'bold', color: '#0E3F8C' }}&gt;更极端机动下的鲁棒参数估计&lt;/Text&gt;&#10;                &lt;Text style={{ fontSize: 16, color: '#1A2230', marginTop: 3 }}&gt;检验 [04] 的窄带近似（|vk| &amp;lt; 150 m/s）失效边界，把 DSE 与宽带效应联合建模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4&lt;/Text&gt;&#10;            &lt;Box style={{ flex: 1 }}&gt;&#10;                &lt;Text style={{ fontSize: 20, fontWeight: 'bold', color: '#0E3F8C' }}&gt;低空场景的波形自适应选择准则&lt;/Text&gt;&#10;                &lt;Text style={{ fontSize: 16, color: '#1A2230', marginTop: 3 }}&gt;合成 [06] 的速率模型与 [04] 的感知折中曲线，给出可量化的波形切换判据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DF3F3', border: '1px solid #E8C9C9', borderRadius: 8, padding: '12px 20px', display: 'flex', flexDirection: 'row', alignItems: 'center', gap: 16 }}&gt;&#10;            &lt;Text style={{ fontSize: 30, fontWeight: 'bold', color: '#D32F2F', width: 46 }}&gt;5&lt;/Text&gt;&#10;            &lt;Box style={{ flex: 1 }}&gt;&#10;                &lt;Text style={{ fontSize: 20, fontWeight: 'bold', color: '#0E3F8C' }}&gt;单站到多站的 OTFS-ISAC 扩展&lt;/Text&gt;&#10;                &lt;Text style={{ fontSize: 16, color: '#1A2230', marginTop: 3 }}&gt;填 [04] 自己点名的空白；可用 [25] 的移动性分组与功控框架改造&lt;/Text&gt;&#10;            &lt;/Box&gt;&#10;            &lt;Box style={{ background: '#A32D2D', borderRadius: 5, padding: '4px 12px' }}&gt;&lt;Text style={{ fontSize: 15, fontWeight: 'bold', color: '#FFFFFF' }}&gt;谨慎&lt;/Text&gt;&lt;/Box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028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五个挑战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五个切入点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096625" y="2952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博士生切入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97155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2954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62050" y="12477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统一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感知评测基准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62050" y="15049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的信号模型为底座，同一场景下并列检测概率、估计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RMSE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、分辨能力与可达速率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10915650" y="134302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29950" y="13811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2057400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62050" y="232410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DD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域感知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通信折中的理论刻画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62050" y="258127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的容量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失真框架移植到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域，给出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折中的内外界，接通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的数值曲线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915650" y="242887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029950" y="246697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81000" y="3133725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62050" y="340995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更极端机动下的鲁棒参数估计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62050" y="366712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检验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）失效边界，把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与宽带效应联合建模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10915650" y="350520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029950" y="35433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81000" y="4219575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62050" y="44862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低空场景的波形自适应选择准则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62050" y="47434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合成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[06]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的速率模型与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的感知折中曲线，给出可量化的波形切换判据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0915650" y="459105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029950" y="462915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81000" y="529590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56197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32F2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62050" y="5572125"/>
            <a:ext cx="979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单站到多站的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62050" y="5829300"/>
            <a:ext cx="979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填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自己点名的空白；可用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[25]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的移动性分组与功控框架改造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1106150" y="5667375"/>
            <a:ext cx="514350" cy="247650"/>
          </a:xfrm>
          <a:prstGeom prst="roundRect">
            <a:avLst>
              <a:gd name="adj" fmla="val 19231"/>
            </a:avLst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20450" y="5705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谨慎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background: '#0E3F8C', padding: 0, display: 'flex', flexDirection: 'column', fontFamily: &quot;'Source Han Sans SC','Microsoft YaHei',sans-serif&quot; }}&gt;&#10;    &lt;Box style={{ height: 8, width: '100%', background: '#3D7BD9' }} /&gt;&#10;    &lt;Box style={{ height: 612, display: 'flex', flexDirection: 'column', justifyContent: 'center', padding: '0 96px' }}&gt;&#10;        &lt;Text style={{ fontSize: 16, letterSpacing: 3, color: '#3D7BD9', fontWeight: 'bold' }}&gt;CONCLUSION · 总结&lt;/Text&gt;&#10;        &lt;Text style={{ fontSize: 40, fontWeight: 'bold', color: '#FFFFFF', lineHeight: 1.5, marginTop: 22 }}&gt;&#10;            OTFS-ISAC 的核心动作是一次坐标变换：&lt;br /&gt;&#10;            把信道从时频域搬到 DD 域，让高机动造成的时变特性变得稀疏、近似时不变&#10;        &lt;/Text&gt;&#10;        &lt;Box style={{ height: 3, width: 120, background: '#3D7BD9', marginTop: 26 }} /&gt;&#10;        &lt;Text style={{ fontSize: 22, color: '#A8C2E8', lineHeight: 1.95, marginTop: 24 }}&gt;&#10;            两个前提优势已被证实：[06] 说明优势来自 GI 结构，[04] 说明 ISI/ICI 可被利用&lt;br /&gt;&#10;            但结构性缺口仍在——感知指标不可比、全链路无实测，与第一个实例同构且更突出&#10;        &lt;/Text&gt;&#10;        &lt;Box style={{ height: 96, background: '#1E4FA8', borderRadius: 8, marginTop: 30, display: 'flex', alignItems: 'center', padding: '0 30px', borderLeft: '6px solid #FFC24B' }}&gt;&#10;            &lt;Text style={{ fontSize: 25, fontWeight: 'bold', color: '#FFC24B', lineHeight: 1.55 }}&gt;&#10;                关键转折点不在于再提出一个更好的波形，而在于：为 OTFS-ISAC 建立统一、可复现的感知评测基准，并把 DD 域折中从数值曲线推进到理论刻画&#10;            &lt;/Text&gt;&#10;        &lt;/Box&gt;&#10;    &lt;/Box&gt;&#10;    &lt;Box style={{ height: 100, background: '#0A2E66', display: 'flex', flexDirection: 'row', alignItems: 'center', justifyContent: 'space-between', padding: '0 96px' }}&gt;&#10;        &lt;Text style={{ fontSize: 15, color: '#A8C2E8' }}&gt;证据来源：本地 PDF 池 39 篇，深读 11 篇；全部定量结论经接地门禁校验&lt;/Text&gt;&#10;        &lt;Text style={{ fontSize: 15, fontWeight: 'bold', color: '#FFFFFF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14400" y="4191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CONCLUSION · </a:t>
            </a:r>
            <a:r>
              <a:rPr lang="zh-CN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总结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819150"/>
            <a:ext cx="10363200" cy="2057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的核心动作是一次坐标变换：</a:t>
            </a:r>
            <a:endParaRPr/>
          </a:p>
          <a:p>
            <a:pPr>
              <a:lnSpc>
                <a:spcPct val="15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把信道从时频域搬到</a:t>
            </a: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 DD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域，让高机动造成的时变特性变得稀疏、近似时不变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14400" y="3124200"/>
            <a:ext cx="11430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4400" y="3381375"/>
            <a:ext cx="10363200" cy="9810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两个前提优势已被证实：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[06]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说明优势来自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GI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结构，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[04]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可被利用</a:t>
            </a:r>
            <a:endParaRPr/>
          </a:p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但结构性缺口仍在——感知指标不可比、全链路无实测，与第一个实例同构且更突出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71550" y="4648200"/>
            <a:ext cx="10363200" cy="9144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971550" y="4648200"/>
            <a:ext cx="10363200" cy="914400"/>
          </a:xfrm>
          <a:custGeom>
            <a:pathLst>
              <a:path w="1088" h="9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94"/>
                </a:lnTo>
                <a:cubicBezTo>
                  <a:pt x="6" y="95"/>
                  <a:pt x="7" y="96"/>
                  <a:pt x="8" y="96"/>
                </a:cubicBezTo>
                <a:cubicBezTo>
                  <a:pt x="3" y="96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97345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关键转折点不在于再提出一个更好的波形，而在于：为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建立统一、可复现的感知评测基准，并把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DD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域折中从数值曲线推进到理论刻画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0" y="5905500"/>
            <a:ext cx="12192000" cy="952500"/>
          </a:xfrm>
          <a:prstGeom prst="rect">
            <a:avLst/>
          </a:prstGeom>
          <a:solidFill>
            <a:srgbClr val="0A2E6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14400" y="6296025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证据来源：本地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PDF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池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39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篇，深读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11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篇；全部定量结论经接地门禁校验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763250" y="629602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2026-09-14T18:24:24Z</dcterms:created>
  <dcterms:modified xsi:type="dcterms:W3CDTF">2026-09-14T18:24:24Z</dcterms:modified>
</cp:coreProperties>
</file>