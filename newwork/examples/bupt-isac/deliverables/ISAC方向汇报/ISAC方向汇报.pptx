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7" Type="http://schemas.openxmlformats.org/officeDocument/2006/relationships/slide" Target="slides/slide7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8382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LITERATURE REVIEW · </a:t>
            </a:r>
            <a:r>
              <a:rPr lang="zh-CN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组会文献汇报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219200"/>
            <a:ext cx="10363200" cy="17907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800" b="1">
                <a:solidFill>
                  <a:srgbClr val="0E3F8C"/>
                </a:solidFill>
                <a:latin typeface="Source Han Sans SC"/>
                <a:ea typeface="Source Han Sans SC"/>
              </a:rPr>
              <a:t>低空经济场景下的</a:t>
            </a:r>
            <a:endParaRPr/>
          </a:p>
          <a:p>
            <a:pPr>
              <a:lnSpc>
                <a:spcPct val="122000"/>
              </a:lnSpc>
            </a:pPr>
            <a:r>
              <a:rPr lang="zh-CN" sz="4800" b="1">
                <a:solidFill>
                  <a:srgbClr val="0E3F8C"/>
                </a:solidFill>
                <a:latin typeface="Source Han Sans SC"/>
                <a:ea typeface="Source Han Sans SC"/>
              </a:rPr>
              <a:t>通感一体化（</a:t>
            </a:r>
            <a:r>
              <a:rPr lang="en-US" sz="4800" b="1">
                <a:solidFill>
                  <a:srgbClr val="0E3F8C"/>
                </a:solidFill>
                <a:latin typeface="Source Han Sans SC"/>
                <a:ea typeface="Source Han Sans SC"/>
              </a:rPr>
              <a:t>ISAC</a:t>
            </a:r>
            <a:r>
              <a:rPr lang="zh-CN" sz="4800" b="1">
                <a:solidFill>
                  <a:srgbClr val="0E3F8C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320040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A5568"/>
                </a:solidFill>
                <a:latin typeface="Source Han Sans SC"/>
                <a:ea typeface="Source Han Sans SC"/>
              </a:rPr>
              <a:t>波形设计</a:t>
            </a:r>
            <a:r>
              <a:rPr lang="en-US" sz="180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800">
                <a:solidFill>
                  <a:srgbClr val="4A5568"/>
                </a:solidFill>
                <a:latin typeface="Source Han Sans SC"/>
                <a:ea typeface="Source Han Sans SC"/>
              </a:rPr>
              <a:t>波束赋形</a:t>
            </a:r>
            <a:r>
              <a:rPr lang="en-US" sz="180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800">
                <a:solidFill>
                  <a:srgbClr val="4A5568"/>
                </a:solidFill>
                <a:latin typeface="Source Han Sans SC"/>
                <a:ea typeface="Source Han Sans SC"/>
              </a:rPr>
              <a:t>多机协同资源优化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14400" y="3743325"/>
            <a:ext cx="1143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4038600"/>
            <a:ext cx="10363200" cy="8763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文献基础：本地精读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11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篇（全部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arXiv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预印本）</a:t>
            </a:r>
            <a:endParaRPr/>
          </a:p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汇报人：＿＿＿＿　　指导老师：＿＿＿＿　　日期：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2026-09-14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0" y="5676900"/>
            <a:ext cx="12192000" cy="1181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60579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证据来源：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bupt_isac_workflow/literature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全部本地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PDF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全文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全篇定量结论均可回溯原文；原文未给出者标注「文献未说明」，不做推断补全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039475" y="29527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CONTENTS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81000" y="102870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12001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33425" y="13335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371600" y="119062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研究定位：低空</a:t>
            </a:r>
            <a:r>
              <a:rPr lang="en-US" sz="1950" b="1">
                <a:solidFill>
                  <a:srgbClr val="1A2230"/>
                </a:solidFill>
                <a:latin typeface="Source Han Sans SC"/>
                <a:ea typeface="Source Han Sans SC"/>
              </a:rPr>
              <a:t> ISAC </a:t>
            </a: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要解决什么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371600" y="155257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低慢小目标的两类失效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频谱与硬件经济性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安全的内生性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三重结构矛盾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81000" y="203835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22098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33425" y="23431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371600" y="220027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发展脉络：从资源争夺到资源免用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371600" y="256222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固定基站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机动协同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消除开销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多维并行，四个阶段的技术转向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81000" y="304800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32194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33425" y="33528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371600" y="320992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方法格局：五类技术路线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371600" y="357187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波形调制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波束与架构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资源与轨迹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感知算法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安全与数据基准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381000" y="405765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09600" y="42291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33425" y="43624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371600" y="421957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代表文献：八篇核心工作拆解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371600" y="458152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零感知开销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RAA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阵列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UW-OCDM · PCRB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协同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数字孪生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LAMBDA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81000" y="506730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52387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33425" y="53721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05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371600" y="522922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未解问题：两个根本缺口与切入机会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371600" y="559117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指标不可比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全链路无实测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五个挑战与五个博士生切入方向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534150" y="12477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ONE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534150" y="1628775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为什么难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534150" y="2371725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534150" y="2590800"/>
            <a:ext cx="4743450" cy="3019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低空安全是真实刚需，但现有监管与技术手段均失效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通信与感知共享频谱、硬件与波形，存在结构性矛盾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矛盾并非单点，而是落在波形、空间、系统三个层面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28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研究定位：这个方向在解什么问题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方向概述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381000" y="1028700"/>
            <a:ext cx="11430000" cy="4305300"/>
          </a:xfrm>
          <a:prstGeom prst="roundRect">
            <a:avLst>
              <a:gd name="adj" fmla="val 17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47700" y="1257300"/>
            <a:ext cx="10896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低空经济的核心矛盾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47700" y="1666875"/>
            <a:ext cx="10896600" cy="3724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低空空域同时是高价值作业空间与高风险开放空间。文献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[1]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指出，低空环境中「低慢小」目标密集聚集，会带来两类失效——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连续广域感知失效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与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目标意图判别失效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，而现有监管框架无力应对。文献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[3]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把问题进一步聚焦到最难的设定——</a:t>
            </a:r>
            <a:r>
              <a:rPr lang="zh-CN" sz="1575" b="1">
                <a:solidFill>
                  <a:srgbClr val="D9534F"/>
                </a:solidFill>
                <a:latin typeface="Source Han Sans SC"/>
                <a:ea typeface="Source Han Sans SC"/>
              </a:rPr>
              <a:t>非合作目标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：它不主动配合、不提供专用信令、不预先共享坐标，系统只能被动地从回波中提取信息。</a:t>
            </a:r>
            <a:endParaRPr/>
          </a:p>
          <a:p>
            <a:pPr>
              <a:lnSpc>
                <a:spcPct val="172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为什么值得做？三篇文献指向同一个经济性命题。文献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[3]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论证：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MIMO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提供目标分辨所需的空间分辨率，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OFDM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可在既有通信框架内完成时延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多普勒感知，因此能</a:t>
            </a:r>
            <a:r>
              <a:rPr lang="zh-CN" sz="1575" b="1">
                <a:solidFill>
                  <a:srgbClr val="1A2230"/>
                </a:solidFill>
                <a:latin typeface="Source Han Sans SC"/>
                <a:ea typeface="Source Han Sans SC"/>
              </a:rPr>
              <a:t>复用蜂窝基础设施而无需新增专用硬件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[8]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给出产业侧量化对照——中国移动已部署的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5G-A ISAC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实验系统通常要划出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sz="1575" b="1">
                <a:solidFill>
                  <a:srgbClr val="D9534F"/>
                </a:solidFill>
                <a:latin typeface="Source Han Sans SC"/>
                <a:ea typeface="Source Han Sans SC"/>
              </a:rPr>
              <a:t>10%–20%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的时频资源专用于感知，这部分是对通信容量的净损耗。</a:t>
            </a:r>
            <a:endParaRPr/>
          </a:p>
          <a:p>
            <a:pPr>
              <a:lnSpc>
                <a:spcPct val="172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而低空并非地面蜂窝的简单外推。文献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[3]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归纳出三项独特传播特性：强地杂波、信道快速变化、近场与远场效应混合。安全则是内生需求而非常规附加项：文献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[1]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把安全作为整个技术体系的组织主线，文献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[5]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揭示更微妙的机理——通信与感知共用同一发射信号，通信侧窃听能力会与感知侧信息泄漏</a:t>
            </a:r>
            <a:r>
              <a:rPr lang="zh-CN" sz="1575" b="1">
                <a:solidFill>
                  <a:srgbClr val="1A2230"/>
                </a:solidFill>
                <a:latin typeface="Source Han Sans SC"/>
                <a:ea typeface="Source Han Sans SC"/>
              </a:rPr>
              <a:t>相互耦合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，形成单侧防护无法覆盖的风险面。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81000" y="5486400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09600" y="5657850"/>
            <a:ext cx="81915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Source Han Sans SC"/>
                <a:ea typeface="Source Han Sans SC"/>
              </a:rPr>
              <a:t>一句话概括：本方向的全部工作，都是在回答「如何把通信与感知的相互干扰，转化为相互支撑」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矛盾落在三个层面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研究定位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381000" y="990600"/>
            <a:ext cx="11430000" cy="419100"/>
          </a:xfrm>
          <a:prstGeom prst="roundRect">
            <a:avLst>
              <a:gd name="adj" fmla="val 1363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1095375"/>
            <a:ext cx="477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同一份频谱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同一套硬件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同一个发射波形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冲突由此产生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81000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71500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04850" y="184785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71500" y="2305050"/>
            <a:ext cx="3209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波形层面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71500" y="2705100"/>
            <a:ext cx="3209925" cy="2095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同一份时频资源既要承载信息、又要承载探测，二者对波形的要求存在结构性冲突。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71500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600200" y="4895850"/>
            <a:ext cx="1152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[4] [6] [8]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0290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4295775" y="1562100"/>
            <a:ext cx="3600450" cy="3810000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44862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6291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B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486275" y="2305050"/>
            <a:ext cx="3219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空间层面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486275" y="2705100"/>
            <a:ext cx="3219450" cy="2095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目标高机动，容易偏离天线阵视轴；且通信与感知的波束指向需求并不相同。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4486275" y="4800600"/>
            <a:ext cx="3219450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419725" y="489585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[10] [12] [5]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9533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8220075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84105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5534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C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410575" y="2305050"/>
            <a:ext cx="3209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系统层面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410575" y="2705100"/>
            <a:ext cx="3209925" cy="2095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固定基站在覆盖边缘与盲区失效；多机多站的轨迹、关联、带宽需要联合优化。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410575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525000" y="4895850"/>
            <a:ext cx="981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[2] [11]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428625" y="5524500"/>
            <a:ext cx="11430000" cy="647700"/>
          </a:xfrm>
          <a:prstGeom prst="roundRect">
            <a:avLst>
              <a:gd name="adj" fmla="val 8824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28625" y="5524500"/>
            <a:ext cx="11430000" cy="647700"/>
          </a:xfrm>
          <a:custGeom>
            <a:pathLst>
              <a:path w="1200" h="6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67"/>
                </a:lnTo>
                <a:cubicBezTo>
                  <a:pt x="5" y="68"/>
                  <a:pt x="5" y="68"/>
                  <a:pt x="6" y="68"/>
                </a:cubicBezTo>
                <a:cubicBezTo>
                  <a:pt x="3" y="68"/>
                  <a:pt x="0" y="65"/>
                  <a:pt x="0" y="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38175" y="5686425"/>
            <a:ext cx="103536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三个层面并非独立：波形决定资源划分粒度，空间决定波束自由度，系统决定前两者的约束边界——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任一层的简化都会使结论失真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TWO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别人怎么做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主线一：资源争夺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资源复用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资源免用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主线二：固定基站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机动平台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多站协同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主线三：单一波形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架构重构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外部先验与数据基础设施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28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四阶段演进：一条主线的三次转向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发展脉络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381000" y="9906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90550" y="1123950"/>
            <a:ext cx="1790700" cy="800100"/>
          </a:xfrm>
          <a:prstGeom prst="roundRect">
            <a:avLst>
              <a:gd name="adj" fmla="val 952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81100" y="129540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Source Han Sans SC"/>
                <a:ea typeface="Source Han Sans SC"/>
              </a:rPr>
              <a:t>PHASE 1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90575" y="1504950"/>
            <a:ext cx="1400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固定基站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ISAC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2571750" y="1228725"/>
            <a:ext cx="81724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为感知划出专用时频资源，以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CRB /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感知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SNR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为目标做资源分配。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2571750" y="1628775"/>
            <a:ext cx="817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9534F"/>
                </a:solidFill>
                <a:latin typeface="Source Han Sans SC"/>
                <a:ea typeface="Source Han Sans SC"/>
              </a:rPr>
              <a:t>失效模式：固定</a:t>
            </a:r>
            <a:r>
              <a:rPr lang="en-US" sz="1275">
                <a:solidFill>
                  <a:srgbClr val="D9534F"/>
                </a:solidFill>
                <a:latin typeface="Source Han Sans SC"/>
                <a:ea typeface="Source Han Sans SC"/>
              </a:rPr>
              <a:t> ISAC </a:t>
            </a:r>
            <a:r>
              <a:rPr lang="zh-CN" sz="1275">
                <a:solidFill>
                  <a:srgbClr val="D9534F"/>
                </a:solidFill>
                <a:latin typeface="Source Han Sans SC"/>
                <a:ea typeface="Source Han Sans SC"/>
              </a:rPr>
              <a:t>在高动态低空目标前力不从心，尤见于覆盖边缘与盲区。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0934700" y="1428750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8B97A8"/>
                </a:solidFill>
                <a:latin typeface="Source Han Sans SC"/>
                <a:ea typeface="Source Han Sans SC"/>
              </a:rPr>
              <a:t>[8][2]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81000" y="21717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590550" y="2305050"/>
            <a:ext cx="1790700" cy="800100"/>
          </a:xfrm>
          <a:prstGeom prst="roundRect">
            <a:avLst>
              <a:gd name="adj" fmla="val 952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81100" y="247650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Source Han Sans SC"/>
                <a:ea typeface="Source Han Sans SC"/>
              </a:rPr>
              <a:t>PHASE 2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52475" y="26860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机动与多站协同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2571750" y="2409825"/>
            <a:ext cx="81724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把「固定」变成「机动」、把「单站」变成「多站」；无人机轨迹被纳入优化变量。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2571750" y="2809875"/>
            <a:ext cx="817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关键发现：感知门限升高时，无人机轨迹会自动收拢靠近基站——感知需求反向塑造网络拓扑。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0934700" y="2609850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8B97A8"/>
                </a:solidFill>
                <a:latin typeface="Source Han Sans SC"/>
                <a:ea typeface="Source Han Sans SC"/>
              </a:rPr>
              <a:t>[2][11]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381000" y="33528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590550" y="3486150"/>
            <a:ext cx="1790700" cy="800100"/>
          </a:xfrm>
          <a:prstGeom prst="roundRect">
            <a:avLst>
              <a:gd name="adj" fmla="val 9524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81100" y="365760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8C2E8"/>
                </a:solidFill>
                <a:latin typeface="Source Han Sans SC"/>
                <a:ea typeface="Source Han Sans SC"/>
              </a:rPr>
              <a:t>PHASE 3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57250" y="38671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消除资源开销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2571750" y="3590925"/>
            <a:ext cx="81724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不再争论「给感知分多少」，而是论证「感知根本不需要额外资源」。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2571750" y="3990975"/>
            <a:ext cx="817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转折标志：零感知时频开销框架</a:t>
            </a:r>
            <a:r>
              <a:rPr lang="en-US" sz="1275">
                <a:solidFill>
                  <a:srgbClr val="0E3F8C"/>
                </a:solidFill>
                <a:latin typeface="Source Han Sans SC"/>
                <a:ea typeface="Source Han Sans SC"/>
              </a:rPr>
              <a:t> [8]</a:t>
            </a: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；逐子载波的</a:t>
            </a:r>
            <a:r>
              <a:rPr lang="en-US" sz="1275">
                <a:solidFill>
                  <a:srgbClr val="0E3F8C"/>
                </a:solidFill>
                <a:latin typeface="Source Han Sans SC"/>
                <a:ea typeface="Source Han Sans SC"/>
              </a:rPr>
              <a:t> Fisher </a:t>
            </a: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信息判据</a:t>
            </a:r>
            <a:r>
              <a:rPr lang="en-US" sz="1275">
                <a:solidFill>
                  <a:srgbClr val="0E3F8C"/>
                </a:solidFill>
                <a:latin typeface="Source Han Sans SC"/>
                <a:ea typeface="Source Han Sans SC"/>
              </a:rPr>
              <a:t> [4]</a:t>
            </a: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0934700" y="3790950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[8][4]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81000" y="45339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590550" y="4667250"/>
            <a:ext cx="1790700" cy="800100"/>
          </a:xfrm>
          <a:prstGeom prst="roundRect">
            <a:avLst>
              <a:gd name="adj" fmla="val 9524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181100" y="483870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Source Han Sans SC"/>
                <a:ea typeface="Source Han Sans SC"/>
              </a:rPr>
              <a:t>PHASE 4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57250" y="50482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多维并行创新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2571750" y="4772025"/>
            <a:ext cx="81724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波形、天线架构、外部先验、数据基础设施、安全机理五个维度同时展开。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2571750" y="5172075"/>
            <a:ext cx="817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当前形态：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UW-OCDM [6] · RAA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阵列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[10]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数字孪生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[12] · LAMBDA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数据集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[7]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耦合泄漏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[5]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0934700" y="4972050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8B97A8"/>
                </a:solidFill>
                <a:latin typeface="Source Han Sans SC"/>
                <a:ea typeface="Source Han Sans SC"/>
              </a:rPr>
              <a:t>[6][10]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81000" y="571500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90550" y="5876925"/>
            <a:ext cx="796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主线：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资源争夺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资源复用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资源免用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；支线：固定</a:t>
            </a:r>
            <a:r>
              <a:rPr lang="en-US" sz="1425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机动</a:t>
            </a:r>
            <a:r>
              <a:rPr lang="en-US" sz="1425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协同；单模态</a:t>
            </a:r>
            <a:r>
              <a:rPr lang="en-US" sz="1425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多模态</a:t>
            </a:r>
            <a:r>
              <a:rPr lang="en-US" sz="1425">
                <a:solidFill>
                  <a:srgbClr val="FFFFFF"/>
                </a:solidFill>
                <a:latin typeface="Source Han Sans SC"/>
                <a:ea typeface="Source Han Sans SC"/>
              </a:rPr>
              <a:t> / 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多先验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方法分类：五类技术路线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方法格局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28625" y="990600"/>
            <a:ext cx="11430000" cy="419100"/>
          </a:xfrm>
          <a:prstGeom prst="roundRect">
            <a:avLst>
              <a:gd name="adj" fmla="val 13636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428625" y="990600"/>
            <a:ext cx="11430000" cy="419100"/>
          </a:xfrm>
          <a:custGeom>
            <a:pathLst>
              <a:path w="1200" h="44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3"/>
                </a:lnTo>
                <a:cubicBezTo>
                  <a:pt x="5" y="44"/>
                  <a:pt x="5" y="44"/>
                  <a:pt x="6" y="44"/>
                </a:cubicBezTo>
                <a:cubicBezTo>
                  <a:pt x="3" y="44"/>
                  <a:pt x="0" y="41"/>
                  <a:pt x="0" y="3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19125" y="1095375"/>
            <a:ext cx="7915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依据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11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篇文献的方法学内核划分，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A–C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类改变「资源如何用」，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D–E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类改变「结果如何被验证与保护」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81000" y="1543050"/>
            <a:ext cx="3724275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533400" y="16954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38175" y="1762125"/>
            <a:ext cx="13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33400" y="2133600"/>
            <a:ext cx="3419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波形与调制设计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33400" y="2466975"/>
            <a:ext cx="341947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在同一发射波形内部完成通信与感知的功能划分，粒度可细到子载波、符号或序列结构。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33400" y="3390900"/>
            <a:ext cx="3419475" cy="28575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905000" y="34480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[4] [6] [8]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238625" y="1543050"/>
            <a:ext cx="3714750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391025" y="16954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505325" y="1762125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B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391025" y="2133600"/>
            <a:ext cx="3409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波束赋形与天线架构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391025" y="2466975"/>
            <a:ext cx="340995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在空间维度同时满足通信与感知的指向需求；或从阵列结构入手突破传统阵列的几何限制。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391025" y="3390900"/>
            <a:ext cx="3409950" cy="28575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543550" y="34480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[8] [10] [12] [5]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8086725" y="1543050"/>
            <a:ext cx="3724275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8239125" y="16954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353425" y="1762125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C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239125" y="2133600"/>
            <a:ext cx="3419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资源分配与轨迹联合优化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239125" y="2466975"/>
            <a:ext cx="341947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把无人机的运动自由度纳入优化，与基站关联、带宽分配、波束设计共同考虑。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8239125" y="3390900"/>
            <a:ext cx="3419475" cy="28575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9686925" y="3448050"/>
            <a:ext cx="53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[2] [11]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381000" y="3962400"/>
            <a:ext cx="5648325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33400" y="41148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38175" y="4181475"/>
            <a:ext cx="142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D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33400" y="4552950"/>
            <a:ext cx="5343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感知算法与信号处理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33400" y="4886325"/>
            <a:ext cx="534352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在给定波形与资源的前提下，通过信号处理提升检测、估计、跟踪与识别的性能和鲁棒性。多数算法可独立于波形设计单独评估，且开始给出专门的复杂度分析。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533400" y="5810250"/>
            <a:ext cx="5343525" cy="28575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2867025" y="586740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[8] [6] [3]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162675" y="3962400"/>
            <a:ext cx="5648325" cy="2286000"/>
          </a:xfrm>
          <a:prstGeom prst="roundRect">
            <a:avLst>
              <a:gd name="adj" fmla="val 3333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315075" y="41148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438900" y="41814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E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315075" y="4552950"/>
            <a:ext cx="5343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安全防护与数据基准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315075" y="4886325"/>
            <a:ext cx="534352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处理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ISAC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的安全副作用，并为方法研究提供可信的数据与评测基础。前者关注防护机理，后者关注研究底座，共同决定成果的可信度。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315075" y="5810250"/>
            <a:ext cx="5343525" cy="2857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648700" y="586740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[1] [5] [7]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638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Ⅰ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资源复用：让感知不再额外占用资源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3771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共同主张：感知不应以牺牲通信的时频资源为代价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3810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85800" y="1743075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[8]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零感知时频资源开销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71500" y="2038350"/>
            <a:ext cx="8286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0%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495425" y="2171700"/>
            <a:ext cx="6096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专用感知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时频开销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715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提出免专用感知时频资源的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MIMO-OFDM ISAC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框架，通信时频资源被感知完全复用；搜索阶段给出闭式、免优化的波束赋形算法。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715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85800" y="445770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跟踪阶段所需功率比搜索阶段低约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25 dB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；近距离场景分辨全部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3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个目标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715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85800" y="501015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仿真规模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U=4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用户、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K=3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目标，未验证大规模；未涉及强地杂波与近远场混合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1722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477000" y="1743075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[4]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逐子载波的分配判据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362700" y="2038350"/>
            <a:ext cx="14954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cm </a:t>
            </a:r>
            <a:r>
              <a:rPr lang="zh-CN" sz="4200" b="1">
                <a:solidFill>
                  <a:srgbClr val="1E4FA8"/>
                </a:solidFill>
                <a:latin typeface="Source Han Sans SC"/>
                <a:ea typeface="Source Han Sans SC"/>
              </a:rPr>
              <a:t>级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953375" y="2171700"/>
            <a:ext cx="10668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实用功率约束下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的测距精度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3627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提出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JPCDE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联合路径系数与时延估计方案，证明可达通信速率由通信子载波数量决定、时延精度由感知子载波索引分布决定，并给出闭式迭代解。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3627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477000" y="445770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判据：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子载波进感知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⟺ Fisher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信息增益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&gt;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通信速率损失；功率服从有界注水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3627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477000" y="501015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限定双基地固定几何与单一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OFDM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发射机，未考虑低空高动态与机动性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428625" y="5715000"/>
            <a:ext cx="114300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428625" y="5715000"/>
            <a:ext cx="11430000" cy="552450"/>
          </a:xfrm>
          <a:custGeom>
            <a:pathLst>
              <a:path w="1200" h="5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7"/>
                </a:lnTo>
                <a:cubicBezTo>
                  <a:pt x="5" y="58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19125" y="5667375"/>
            <a:ext cx="110013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对照基准：中国移动已部署的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5G-A ISAC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实验系统通常划出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sz="1425" b="1">
                <a:solidFill>
                  <a:srgbClr val="D9534F"/>
                </a:solidFill>
                <a:latin typeface="Source Han Sans SC"/>
                <a:ea typeface="Source Han Sans SC"/>
              </a:rPr>
              <a:t>10%–20%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时频资源专用于感知（见文献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[8]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）——这是这两篇工作要消掉的成本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09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695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Ⅱ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波形与架构：从设计与硬件两侧同时破局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共同思路：用「一个巧妙结构」同时解决多个原本互相冲突的需求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3810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1743075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[6]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UW-OCDM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：一个结构解四件事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2038350"/>
            <a:ext cx="1028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4 </a:t>
            </a:r>
            <a:r>
              <a:rPr lang="zh-CN" sz="4200" b="1">
                <a:solidFill>
                  <a:srgbClr val="1E4FA8"/>
                </a:solidFill>
                <a:latin typeface="Source Han Sans SC"/>
                <a:ea typeface="Source Han Sans SC"/>
              </a:rPr>
              <a:t>重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695450" y="2171700"/>
            <a:ext cx="14859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同步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多普勒补偿</a:t>
            </a:r>
            <a:endParaRPr/>
          </a:p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信道估计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感知参考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715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把确定性唯一字嵌入正交线性调频多分复用。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UW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作为已知先验，使分布式基站可本地构造感知字典，无需实时交换随机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payload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符号。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15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5800" y="445770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fc=5 GHz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B=40 MHz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N=2048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NUW=256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LoS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多普勒对应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100 km/h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5800" y="501015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原文承认接收机复杂度高于基于最小二乘的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CP-OFDM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；未考虑硬件损伤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1722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[10]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1781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射线天线阵列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RAA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62700" y="2038350"/>
            <a:ext cx="12382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&lt;1%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696200" y="2171700"/>
            <a:ext cx="14097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M=16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时相对</a:t>
            </a:r>
            <a:endParaRPr/>
          </a:p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HBF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架构的硬件成本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627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大量低成本阵元配少量射频链路，阵元按「射线」结构排布，每条射线是刻意设计朝向的简单均匀线阵，经射线选择网络选通接入基带。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3627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77000" y="45434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严格证明全方向均匀角分辨率；无需移相器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3627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477000" y="5095875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仅仿真验证、无硬件原型实测；选通网络的时延与切换开销未量化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28625" y="5715000"/>
            <a:ext cx="114300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28625" y="5715000"/>
            <a:ext cx="11430000" cy="552450"/>
          </a:xfrm>
          <a:custGeom>
            <a:pathLst>
              <a:path w="1200" h="5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7"/>
                </a:lnTo>
                <a:cubicBezTo>
                  <a:pt x="5" y="58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19125" y="5829300"/>
            <a:ext cx="92678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启发：两篇都没有「更用力地优化」，而是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改变了问题的结构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——一个改波形组织方式，一个改天线的物理连接方式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10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524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Ⅲ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先验与数据：补齐信息与底座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共同视角：不改进算法本身，而是补上算法所依赖的输入条件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810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[12]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数字孪生辅助波束设计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2038350"/>
            <a:ext cx="19431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D9534F"/>
                </a:solidFill>
                <a:latin typeface="Source Han Sans SC"/>
                <a:ea typeface="Source Han Sans SC"/>
              </a:rPr>
              <a:t>−10 dB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609850" y="2171700"/>
            <a:ext cx="12192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LoS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主导区相对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全信道方案的差距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用环境电磁三维模型与射线追踪预测感知信道的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LoS / NLoS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路径方向并识别主导路径，以最大化主导分量感知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SNR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为目标设计波束。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445770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3.5 GHz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3233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条用户信道、最小通信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SINR 10 dB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10000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次重复实验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15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5095875"/>
            <a:ext cx="426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孪生无法推断感知路径精确复增益；单基站单用户单目标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1722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477000" y="1743075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[7]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2276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LAMBDA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多模态数据集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362700" y="2038350"/>
            <a:ext cx="8286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5%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286625" y="2171700"/>
            <a:ext cx="1323975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训练样本比例即达</a:t>
            </a:r>
            <a:endParaRPr/>
          </a:p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PCK@16 = 0.8512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3627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用高保真数字孪生流水线生成同步的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RGB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、深度、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LiDAR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IMU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、位姿、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CSI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与雷达资源，覆盖城郊校园、多机多站、夜间与四种天气。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3627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77000" y="4543425"/>
            <a:ext cx="4181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CSI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覆盖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1.4–77 GHz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CSI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与雷达参数支持用户自定义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3627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477000" y="5095875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数据为数字孪生合成而非实测；与真实数据一致性对比文献未说明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28625" y="5715000"/>
            <a:ext cx="114300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28625" y="5715000"/>
            <a:ext cx="11430000" cy="552450"/>
          </a:xfrm>
          <a:custGeom>
            <a:pathLst>
              <a:path w="1200" h="5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7"/>
                </a:lnTo>
                <a:cubicBezTo>
                  <a:pt x="5" y="58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19125" y="5829300"/>
            <a:ext cx="96393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注意：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[12]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的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−10 dB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与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[7]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的「合成数据」其实是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同一件事的两面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——先验与数据的完备程度，直接决定方法能走多远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11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THREE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还缺什么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最根本的缺口不是算法创新，而是可比性与可验证性</a:t>
            </a:r>
            <a:endParaRPr/>
          </a:p>
          <a:p>
            <a:pPr>
              <a:lnSpc>
                <a:spcPct val="200000"/>
              </a:lnSpc>
            </a:pP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11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篇全部仿真、全部预印本、感知指标互不统一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这意味着「哪种设计更优」这一基本问题尚无答案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143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对比总结：什么已经解决，什么仍然没有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对比总结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617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左栏限定在文献自身的设定范围内成立；右栏是文献自身承认或明显未覆盖的空白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3810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552450" y="1657350"/>
            <a:ext cx="5295900" cy="361950"/>
          </a:xfrm>
          <a:prstGeom prst="roundRect">
            <a:avLst>
              <a:gd name="adj" fmla="val 1578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543175" y="1724025"/>
            <a:ext cx="1323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已经解决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· 5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52450" y="21145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6750" y="21907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「感知必须占用专用资源」被打破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66750" y="24384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[8]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零开销框架；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[4]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逐子载波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Fisher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判据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52450" y="28003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66750" y="28765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感知与通信的折中已被解析刻画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66750" y="31242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[4]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给出有界注水结构与可解释分配判据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52450" y="34861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66750" y="35623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平台机动性可作为优化自由度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66750" y="38100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[2]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定位误差最大降低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61.1%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，速度误差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59.9%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52450" y="41719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66750" y="42481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一个结构可同时解多个问题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66750" y="44958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[6] UW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承担四重功能；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[10] RAA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兼顾成本与分辨率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52450" y="48577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66750" y="49339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数据稀缺已有初步应对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66750" y="51816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[7]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模态对齐、参数可定制，可作统一评测底座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1722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254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343650" y="1657350"/>
            <a:ext cx="5295900" cy="361950"/>
          </a:xfrm>
          <a:prstGeom prst="roundRect">
            <a:avLst>
              <a:gd name="adj" fmla="val 15789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143875" y="1724025"/>
            <a:ext cx="170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仍然没有解决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· 7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343650" y="2114550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457950" y="2124075"/>
            <a:ext cx="50673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①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感知指标不统一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PCRB / CRB / SINR /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分辨率各用各的，跨方案不可比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343650" y="2600325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57950" y="270510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②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全链路无实测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11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篇全部为仿真，无硬件原型或现场实测结果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343650" y="3095625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457950" y="320040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③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强杂波鲁棒感知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：严重地杂波与多径条件下，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[3]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明列为开放挑战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343650" y="3581400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457950" y="36861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④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多站融合可扩展性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：可扩展的多基站协同融合，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[3]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明列为开放问题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343650" y="4067175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57950" y="41719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⑤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多目标与移动性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[2]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单目标、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[8]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三静止目标、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[12]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单目标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343650" y="4562475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457950" y="46672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⑥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合成数据可信度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[7]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未给出与真实实测数据的一致性对比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343650" y="5048250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57950" y="515302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⑦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安全代价未量化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[5]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仅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M=6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天线，未验证大规模阵列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28625" y="5715000"/>
            <a:ext cx="114300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28625" y="5715000"/>
            <a:ext cx="11430000" cy="552450"/>
          </a:xfrm>
          <a:custGeom>
            <a:pathLst>
              <a:path w="1200" h="5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7"/>
                </a:lnTo>
                <a:cubicBezTo>
                  <a:pt x="5" y="58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19125" y="5829300"/>
            <a:ext cx="74009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右侧七项中，①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与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②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属于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方法论层面的缺口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，优先解决它们能让其余五项的进展变得可衡量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13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000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五个挑战与对应的博士生切入点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096625" y="2952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挑战与切入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668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左侧为文献明确承认或明显未覆盖的空白；右侧为可在有限算力与周期内推进的切入方向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81000" y="14859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52450" y="17430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66750" y="18097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09650" y="159067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感知指标不统一：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PCRB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CRB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、感知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SINR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、分辨率各用各的，成果无法横向比较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238750" y="179070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619750" y="159067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以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[7]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数据为底座建统一评测框架，在同一场景同一信道下复现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[2][4][8][11]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11049000" y="176212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134725" y="18192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推荐高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381000" y="241935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52450" y="26765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66750" y="27432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09650" y="252412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指标选择本身从未被质疑：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[2]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用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PCRB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[11]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用感知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SINR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，同一系统换指标会得到什么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238750" y="272415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619750" y="252412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研究感知指标选择对最优解结构的影响机理——回答「我们该优化什么」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11049000" y="269557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134725" y="27527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推荐高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81000" y="33528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52450" y="36099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66750" y="36766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09650" y="345757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强杂波与非合作条件下的鲁棒感知，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[3]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明确列为开放挑战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238750" y="365760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619750" y="345757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结合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[6]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的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UW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抗多普勒骨架与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[8]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的空间域去噪，做杂波抑制的波形与接收联合设计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11049000" y="362902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34725" y="36861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推荐高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381000" y="428625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52450" y="45434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66750" y="46101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09650" y="439102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多目标与移动性缺口：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[2]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单目标、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[8]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三静止目标、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[12]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单目标，规模化未验证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238750" y="459105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619750" y="439102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把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[2]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的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PCRB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框架扩展到移动多目标，解决数据关联与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PCRB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耦合带来的新结构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11049000" y="456247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134725" y="46196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推荐中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1000" y="52197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52450" y="54768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66750" y="55435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009650" y="532447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合成数据可信度：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[7]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全部由数字孪生生成，未做真实一致性校验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238750" y="552450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619750" y="5476875"/>
            <a:ext cx="52959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量化合成与真实环境的偏差边界，为数据驱动的分支划定可用范围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11049000" y="549592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134725" y="55530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推荐中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381000" y="6153150"/>
            <a:ext cx="11430000" cy="495300"/>
          </a:xfrm>
          <a:prstGeom prst="roundRect">
            <a:avLst>
              <a:gd name="adj" fmla="val 11538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1500" y="6296025"/>
            <a:ext cx="6753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如果只选一个：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切入点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1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或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2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——当前最缺的不是新算法，而是可比性与指标合理性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38200" y="428625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7FB0F0"/>
                </a:solidFill>
                <a:latin typeface="Source Han Sans SC"/>
                <a:ea typeface="Source Han Sans SC"/>
              </a:rPr>
              <a:t>SUMMARY · </a:t>
            </a:r>
            <a:r>
              <a:rPr lang="zh-CN" sz="1200" b="1" spc="300">
                <a:solidFill>
                  <a:srgbClr val="7FB0F0"/>
                </a:solidFill>
                <a:latin typeface="Source Han Sans SC"/>
                <a:ea typeface="Source Han Sans SC"/>
              </a:rPr>
              <a:t>总结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733425"/>
            <a:ext cx="10515600" cy="600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FFFFFF"/>
                </a:solidFill>
                <a:latin typeface="Source Han Sans SC"/>
                <a:ea typeface="Source Han Sans SC"/>
              </a:rPr>
              <a:t>核心研究逻辑：一条三重折中的求解链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38200" y="1657350"/>
            <a:ext cx="3152775" cy="1143000"/>
          </a:xfrm>
          <a:prstGeom prst="roundRect">
            <a:avLst>
              <a:gd name="adj" fmla="val 8333"/>
            </a:avLst>
          </a:prstGeom>
          <a:solidFill>
            <a:srgbClr val="12306B"/>
          </a:solidFill>
          <a:ln w="1905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885950" y="1943100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Source Han Sans SC"/>
                <a:ea typeface="Source Han Sans SC"/>
              </a:rPr>
              <a:t>感知精度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619250" y="234315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PCRB / CRB /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感知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SINR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990975" y="2076450"/>
            <a:ext cx="5334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950">
                <a:solidFill>
                  <a:srgbClr val="3D7BD9"/>
                </a:solidFill>
                <a:latin typeface="Source Han Sans SC"/>
                <a:ea typeface="Source Han Sans SC"/>
              </a:rPr>
              <a:t>⇌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524375" y="1657350"/>
            <a:ext cx="3143250" cy="1143000"/>
          </a:xfrm>
          <a:prstGeom prst="roundRect">
            <a:avLst>
              <a:gd name="adj" fmla="val 8333"/>
            </a:avLst>
          </a:prstGeom>
          <a:solidFill>
            <a:srgbClr val="12306B"/>
          </a:solidFill>
          <a:ln w="1905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562600" y="1943100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Source Han Sans SC"/>
                <a:ea typeface="Source Han Sans SC"/>
              </a:rPr>
              <a:t>通信速率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448300" y="2343150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频谱效率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开销占比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667625" y="2076450"/>
            <a:ext cx="5334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950">
                <a:solidFill>
                  <a:srgbClr val="3D7BD9"/>
                </a:solidFill>
                <a:latin typeface="Source Han Sans SC"/>
                <a:ea typeface="Source Han Sans SC"/>
              </a:rPr>
              <a:t>⇌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201025" y="1657350"/>
            <a:ext cx="3152775" cy="1143000"/>
          </a:xfrm>
          <a:prstGeom prst="roundRect">
            <a:avLst>
              <a:gd name="adj" fmla="val 8333"/>
            </a:avLst>
          </a:prstGeom>
          <a:solidFill>
            <a:srgbClr val="12306B"/>
          </a:solidFill>
          <a:ln w="1905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248775" y="1943100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Source Han Sans SC"/>
                <a:ea typeface="Source Han Sans SC"/>
              </a:rPr>
              <a:t>系统开销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201150" y="2343150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算力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硬件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功耗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38200" y="2990850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A8C2E8"/>
                </a:solidFill>
                <a:latin typeface="Source Han Sans SC"/>
                <a:ea typeface="Source Han Sans SC"/>
              </a:rPr>
              <a:t>从「资源争夺」到「资源复用」再到「资源免用」，所有方法的差异，只在于把折中点放在这条链的哪个位置。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895350" y="3552825"/>
            <a:ext cx="10515600" cy="1600200"/>
          </a:xfrm>
          <a:prstGeom prst="roundRect">
            <a:avLst>
              <a:gd name="adj" fmla="val 4762"/>
            </a:avLst>
          </a:prstGeom>
          <a:solidFill>
            <a:srgbClr val="1230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895350" y="3552825"/>
            <a:ext cx="10515600" cy="1600200"/>
          </a:xfrm>
          <a:custGeom>
            <a:pathLst>
              <a:path w="1104" h="16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66"/>
                </a:lnTo>
                <a:cubicBezTo>
                  <a:pt x="6" y="167"/>
                  <a:pt x="7" y="168"/>
                  <a:pt x="8" y="168"/>
                </a:cubicBezTo>
                <a:cubicBezTo>
                  <a:pt x="3" y="168"/>
                  <a:pt x="0" y="164"/>
                  <a:pt x="0" y="16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FFC24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62050" y="3762375"/>
            <a:ext cx="992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FFC24B"/>
                </a:solidFill>
                <a:latin typeface="Source Han Sans SC"/>
                <a:ea typeface="Source Han Sans SC"/>
              </a:rPr>
              <a:t>结论金句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62050" y="4010025"/>
            <a:ext cx="99250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2025" b="1">
                <a:solidFill>
                  <a:srgbClr val="FFFFFF"/>
                </a:solidFill>
                <a:latin typeface="Source Han Sans SC"/>
                <a:ea typeface="Source Han Sans SC"/>
              </a:rPr>
              <a:t>低空</a:t>
            </a:r>
            <a:r>
              <a:rPr lang="en-US" sz="2025" b="1">
                <a:solidFill>
                  <a:srgbClr val="FFFFFF"/>
                </a:solidFill>
                <a:latin typeface="Source Han Sans SC"/>
                <a:ea typeface="Source Han Sans SC"/>
              </a:rPr>
              <a:t> ISAC </a:t>
            </a:r>
            <a:r>
              <a:rPr lang="zh-CN" sz="2025" b="1">
                <a:solidFill>
                  <a:srgbClr val="FFFFFF"/>
                </a:solidFill>
                <a:latin typeface="Source Han Sans SC"/>
                <a:ea typeface="Source Han Sans SC"/>
              </a:rPr>
              <a:t>不缺新算法，缺的是</a:t>
            </a:r>
            <a:r>
              <a:rPr lang="zh-CN" sz="2025" b="1">
                <a:solidFill>
                  <a:srgbClr val="FFC24B"/>
                </a:solidFill>
                <a:latin typeface="Source Han Sans SC"/>
                <a:ea typeface="Source Han Sans SC"/>
              </a:rPr>
              <a:t>可比性</a:t>
            </a:r>
            <a:r>
              <a:rPr lang="zh-CN" sz="2025" b="1">
                <a:solidFill>
                  <a:srgbClr val="FFFFFF"/>
                </a:solidFill>
                <a:latin typeface="Source Han Sans SC"/>
                <a:ea typeface="Source Han Sans SC"/>
              </a:rPr>
              <a:t>——谁先把不可比的指标变得可比，谁就拿到了入场券。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838200" y="5400675"/>
            <a:ext cx="3400425" cy="552450"/>
          </a:xfrm>
          <a:prstGeom prst="roundRect">
            <a:avLst>
              <a:gd name="adj" fmla="val 13793"/>
            </a:avLst>
          </a:prstGeom>
          <a:solidFill>
            <a:srgbClr val="12306B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943100" y="5581650"/>
            <a:ext cx="119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6EEFA"/>
                </a:solidFill>
                <a:latin typeface="Source Han Sans SC"/>
                <a:ea typeface="Source Han Sans SC"/>
              </a:rPr>
              <a:t>① </a:t>
            </a:r>
            <a:r>
              <a:rPr lang="zh-CN" sz="1275">
                <a:solidFill>
                  <a:srgbClr val="E6EEFA"/>
                </a:solidFill>
                <a:latin typeface="Source Han Sans SC"/>
                <a:ea typeface="Source Han Sans SC"/>
              </a:rPr>
              <a:t>统一评测底座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391025" y="5400675"/>
            <a:ext cx="3409950" cy="552450"/>
          </a:xfrm>
          <a:prstGeom prst="roundRect">
            <a:avLst>
              <a:gd name="adj" fmla="val 13793"/>
            </a:avLst>
          </a:prstGeom>
          <a:solidFill>
            <a:srgbClr val="12306B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419725" y="558165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6EEFA"/>
                </a:solidFill>
                <a:latin typeface="Source Han Sans SC"/>
                <a:ea typeface="Source Han Sans SC"/>
              </a:rPr>
              <a:t>② </a:t>
            </a:r>
            <a:r>
              <a:rPr lang="zh-CN" sz="1275">
                <a:solidFill>
                  <a:srgbClr val="E6EEFA"/>
                </a:solidFill>
                <a:latin typeface="Source Han Sans SC"/>
                <a:ea typeface="Source Han Sans SC"/>
              </a:rPr>
              <a:t>感知指标合理性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953375" y="5400675"/>
            <a:ext cx="3400425" cy="552450"/>
          </a:xfrm>
          <a:prstGeom prst="roundRect">
            <a:avLst>
              <a:gd name="adj" fmla="val 13793"/>
            </a:avLst>
          </a:prstGeom>
          <a:solidFill>
            <a:srgbClr val="12306B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144000" y="558165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6EEFA"/>
                </a:solidFill>
                <a:latin typeface="Source Han Sans SC"/>
                <a:ea typeface="Source Han Sans SC"/>
              </a:rPr>
              <a:t>③ </a:t>
            </a:r>
            <a:r>
              <a:rPr lang="zh-CN" sz="1275">
                <a:solidFill>
                  <a:srgbClr val="E6EEFA"/>
                </a:solidFill>
                <a:latin typeface="Source Han Sans SC"/>
                <a:ea typeface="Source Han Sans SC"/>
              </a:rPr>
              <a:t>全链路验证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B0F0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7FB0F0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7FB0F0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7FB0F0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7FB0F0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877550" y="64198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SC"/>
                <a:ea typeface="Source Han Sans SC"/>
              </a:rPr>
              <a:t>15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2026-09-14T17:22:08Z</dcterms:created>
  <dcterms:modified xsi:type="dcterms:W3CDTF">2026-09-14T17:22:08Z</dcterms:modified>
</cp:coreProperties>
</file>